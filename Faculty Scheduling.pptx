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72"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3350" autoAdjust="0"/>
  </p:normalViewPr>
  <p:slideViewPr>
    <p:cSldViewPr snapToGrid="0">
      <p:cViewPr varScale="1">
        <p:scale>
          <a:sx n="54" d="100"/>
          <a:sy n="54" d="100"/>
        </p:scale>
        <p:origin x="114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0CE3BB-81EB-48DC-B8EE-F07269142EDB}" type="datetimeFigureOut">
              <a:rPr lang="en-US" smtClean="0"/>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90CA38-58EC-417B-984D-CA25AFE49717}" type="slidenum">
              <a:rPr lang="en-US" smtClean="0"/>
              <a:t>‹#›</a:t>
            </a:fld>
            <a:endParaRPr lang="en-US"/>
          </a:p>
        </p:txBody>
      </p:sp>
    </p:spTree>
    <p:extLst>
      <p:ext uri="{BB962C8B-B14F-4D97-AF65-F5344CB8AC3E}">
        <p14:creationId xmlns:p14="http://schemas.microsoft.com/office/powerpoint/2010/main" val="3953960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90CA38-58EC-417B-984D-CA25AFE49717}" type="slidenum">
              <a:rPr lang="en-US" smtClean="0"/>
              <a:t>1</a:t>
            </a:fld>
            <a:endParaRPr lang="en-US"/>
          </a:p>
        </p:txBody>
      </p:sp>
    </p:spTree>
    <p:extLst>
      <p:ext uri="{BB962C8B-B14F-4D97-AF65-F5344CB8AC3E}">
        <p14:creationId xmlns:p14="http://schemas.microsoft.com/office/powerpoint/2010/main" val="2074484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this study, the anesthesiology department faces a complex scheduling challenge - coordinating over 50 faculty members with more than 160 CRNAs and residents. Research shows that when faculty work with their preferred teams, it leads to better patient outcomes and reduced burnout. Given this, this study will focus on predicting faculty preference to optimize scheduling. My analysis addresses three questions: First, what staffing TYPE does each faculty prefer? Second, what TEAM SIZE do they typically use? And third, which SPECIFIC CRNAs does each faculty prefer to work with?</a:t>
            </a:r>
            <a:endParaRPr lang="en-US" dirty="0"/>
          </a:p>
        </p:txBody>
      </p:sp>
      <p:sp>
        <p:nvSpPr>
          <p:cNvPr id="4" name="Slide Number Placeholder 3"/>
          <p:cNvSpPr>
            <a:spLocks noGrp="1"/>
          </p:cNvSpPr>
          <p:nvPr>
            <p:ph type="sldNum" sz="quarter" idx="5"/>
          </p:nvPr>
        </p:nvSpPr>
        <p:spPr/>
        <p:txBody>
          <a:bodyPr/>
          <a:lstStyle/>
          <a:p>
            <a:fld id="{9190CA38-58EC-417B-984D-CA25AFE49717}" type="slidenum">
              <a:rPr lang="en-US" smtClean="0"/>
              <a:t>2</a:t>
            </a:fld>
            <a:endParaRPr lang="en-US"/>
          </a:p>
        </p:txBody>
      </p:sp>
    </p:spTree>
    <p:extLst>
      <p:ext uri="{BB962C8B-B14F-4D97-AF65-F5344CB8AC3E}">
        <p14:creationId xmlns:p14="http://schemas.microsoft.com/office/powerpoint/2010/main" val="2168357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 analyzed almost 3,000 shift records over one year, covering 53 faculty members and over 160 CRNAs and residents. The data includes temporal features like weekday and holidays, faculty characteristics like years of experience, and binary columns indicating which specific staff worked each shift. A major challenge is class imbalance - CRNA-only staffing represents 57% of shifts, while mixed staffing is only 7%. This imbalance significantly impacts our modeling approach.</a:t>
            </a:r>
            <a:endParaRPr lang="en-US" dirty="0"/>
          </a:p>
        </p:txBody>
      </p:sp>
      <p:sp>
        <p:nvSpPr>
          <p:cNvPr id="4" name="Slide Number Placeholder 3"/>
          <p:cNvSpPr>
            <a:spLocks noGrp="1"/>
          </p:cNvSpPr>
          <p:nvPr>
            <p:ph type="sldNum" sz="quarter" idx="5"/>
          </p:nvPr>
        </p:nvSpPr>
        <p:spPr/>
        <p:txBody>
          <a:bodyPr/>
          <a:lstStyle/>
          <a:p>
            <a:fld id="{9190CA38-58EC-417B-984D-CA25AFE49717}" type="slidenum">
              <a:rPr lang="en-US" smtClean="0"/>
              <a:t>3</a:t>
            </a:fld>
            <a:endParaRPr lang="en-US"/>
          </a:p>
        </p:txBody>
      </p:sp>
    </p:spTree>
    <p:extLst>
      <p:ext uri="{BB962C8B-B14F-4D97-AF65-F5344CB8AC3E}">
        <p14:creationId xmlns:p14="http://schemas.microsoft.com/office/powerpoint/2010/main" val="1746452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My exploratory analysis revealed several important patterns. First, faculty preferences vary dramatically - FacultyQ uses CRNA-only staffing 100% of the time, while Faculty31 prefers residents 81% of the time. A chi-square test confirmed these differences are highly significant. Second, there's a strong correlation between room count and team size - more active operating rooms means larger teams. Interestingly, weekday and holiday status have NO significant effect on staffing. This tells us that individual faculty preferences, not external temporal factors, drive scheduling decisions.</a:t>
            </a:r>
            <a:endParaRPr lang="en-US" dirty="0"/>
          </a:p>
        </p:txBody>
      </p:sp>
      <p:sp>
        <p:nvSpPr>
          <p:cNvPr id="4" name="Slide Number Placeholder 3"/>
          <p:cNvSpPr>
            <a:spLocks noGrp="1"/>
          </p:cNvSpPr>
          <p:nvPr>
            <p:ph type="sldNum" sz="quarter" idx="5"/>
          </p:nvPr>
        </p:nvSpPr>
        <p:spPr/>
        <p:txBody>
          <a:bodyPr/>
          <a:lstStyle/>
          <a:p>
            <a:fld id="{9190CA38-58EC-417B-984D-CA25AFE49717}" type="slidenum">
              <a:rPr lang="en-US" smtClean="0"/>
              <a:t>4</a:t>
            </a:fld>
            <a:endParaRPr lang="en-US"/>
          </a:p>
        </p:txBody>
      </p:sp>
    </p:spTree>
    <p:extLst>
      <p:ext uri="{BB962C8B-B14F-4D97-AF65-F5344CB8AC3E}">
        <p14:creationId xmlns:p14="http://schemas.microsoft.com/office/powerpoint/2010/main" val="2823157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feature engineering, I created target variables for staffing type, team size categories, and binary indicators for each top CRNA. The most important features I engineered were faculty historical rates – these features calculated what percentage of each faculty's shifts used CRNA-only, mixed, or resident-only staffing. These historical patterns turned out to be the strongest predictors. I used an 80-20 train-test split for model evaluation.</a:t>
            </a:r>
            <a:endParaRPr lang="en-US" dirty="0"/>
          </a:p>
        </p:txBody>
      </p:sp>
      <p:sp>
        <p:nvSpPr>
          <p:cNvPr id="4" name="Slide Number Placeholder 3"/>
          <p:cNvSpPr>
            <a:spLocks noGrp="1"/>
          </p:cNvSpPr>
          <p:nvPr>
            <p:ph type="sldNum" sz="quarter" idx="5"/>
          </p:nvPr>
        </p:nvSpPr>
        <p:spPr/>
        <p:txBody>
          <a:bodyPr/>
          <a:lstStyle/>
          <a:p>
            <a:fld id="{9190CA38-58EC-417B-984D-CA25AFE49717}" type="slidenum">
              <a:rPr lang="en-US" smtClean="0"/>
              <a:t>5</a:t>
            </a:fld>
            <a:endParaRPr lang="en-US"/>
          </a:p>
        </p:txBody>
      </p:sp>
    </p:spTree>
    <p:extLst>
      <p:ext uri="{BB962C8B-B14F-4D97-AF65-F5344CB8AC3E}">
        <p14:creationId xmlns:p14="http://schemas.microsoft.com/office/powerpoint/2010/main" val="25174831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predicting staffing type, I compared logistic regression, LDA, and SVM. All three achieved identical 91% accuracy - a 16-point improvement over </a:t>
            </a:r>
            <a:r>
              <a:rPr lang="en-US" sz="1200" b="0" i="0" kern="1200" dirty="0" err="1">
                <a:solidFill>
                  <a:schemeClr val="tx1"/>
                </a:solidFill>
                <a:effectLst/>
                <a:latin typeface="+mn-lt"/>
                <a:ea typeface="+mn-ea"/>
                <a:cs typeface="+mn-cs"/>
              </a:rPr>
              <a:t>baseline.The</a:t>
            </a:r>
            <a:r>
              <a:rPr lang="en-US" sz="1200" b="0" i="0" kern="1200" dirty="0">
                <a:solidFill>
                  <a:schemeClr val="tx1"/>
                </a:solidFill>
                <a:effectLst/>
                <a:latin typeface="+mn-lt"/>
                <a:ea typeface="+mn-ea"/>
                <a:cs typeface="+mn-cs"/>
              </a:rPr>
              <a:t> baseline being the no information rate from the confusion matrix. Looking at class-specific performance, we see excellent sensitivity for CRNA-only at 97% and resident-only at 84%. However, the Mixed class has 0% sensitivity - the models completely fail to predict it. This happens because Mixed represents only 7% of the data. The models learn to ignore this rare class and still achieve high accuracy. An interesting finding is that all three methods produced identical results, which tells us the underlying relationship is linear - no complex model needed.</a:t>
            </a:r>
            <a:endParaRPr lang="en-US" dirty="0"/>
          </a:p>
        </p:txBody>
      </p:sp>
      <p:sp>
        <p:nvSpPr>
          <p:cNvPr id="4" name="Slide Number Placeholder 3"/>
          <p:cNvSpPr>
            <a:spLocks noGrp="1"/>
          </p:cNvSpPr>
          <p:nvPr>
            <p:ph type="sldNum" sz="quarter" idx="5"/>
          </p:nvPr>
        </p:nvSpPr>
        <p:spPr/>
        <p:txBody>
          <a:bodyPr/>
          <a:lstStyle/>
          <a:p>
            <a:fld id="{9190CA38-58EC-417B-984D-CA25AFE49717}" type="slidenum">
              <a:rPr lang="en-US" smtClean="0"/>
              <a:t>6</a:t>
            </a:fld>
            <a:endParaRPr lang="en-US"/>
          </a:p>
        </p:txBody>
      </p:sp>
    </p:spTree>
    <p:extLst>
      <p:ext uri="{BB962C8B-B14F-4D97-AF65-F5344CB8AC3E}">
        <p14:creationId xmlns:p14="http://schemas.microsoft.com/office/powerpoint/2010/main" val="1454505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team size model shows a similar pattern to the first model – this model achieved 92% accuracy across all three methods, beating baseline by 21 points. Small and medium teams are predicted well, but large teams are too rare to predict since they represent less than 1% of the data. The strong correlation between room count and team size helps this model perform well.</a:t>
            </a:r>
            <a:endParaRPr lang="en-US" dirty="0"/>
          </a:p>
        </p:txBody>
      </p:sp>
      <p:sp>
        <p:nvSpPr>
          <p:cNvPr id="4" name="Slide Number Placeholder 3"/>
          <p:cNvSpPr>
            <a:spLocks noGrp="1"/>
          </p:cNvSpPr>
          <p:nvPr>
            <p:ph type="sldNum" sz="quarter" idx="5"/>
          </p:nvPr>
        </p:nvSpPr>
        <p:spPr/>
        <p:txBody>
          <a:bodyPr/>
          <a:lstStyle/>
          <a:p>
            <a:fld id="{9190CA38-58EC-417B-984D-CA25AFE49717}" type="slidenum">
              <a:rPr lang="en-US" smtClean="0"/>
              <a:t>7</a:t>
            </a:fld>
            <a:endParaRPr lang="en-US"/>
          </a:p>
        </p:txBody>
      </p:sp>
    </p:spTree>
    <p:extLst>
      <p:ext uri="{BB962C8B-B14F-4D97-AF65-F5344CB8AC3E}">
        <p14:creationId xmlns:p14="http://schemas.microsoft.com/office/powerpoint/2010/main" val="2145425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CRNA pairing model was the most challenging. Each CRNA only works with any given faculty about 5% of the time, so a model that always predicts 'no pairing' gets 95% accuracy. My initial models actually performed WORSE than this baseline – they had high accuracy but zero sensitivity. To fix this, I made key changes: First, I used class weights to penalize the model more heavily for missing actual pairings. </a:t>
            </a:r>
            <a:r>
              <a:rPr lang="en-US" sz="1200" b="0" i="0" kern="1200" dirty="0" err="1">
                <a:solidFill>
                  <a:schemeClr val="tx1"/>
                </a:solidFill>
                <a:effectLst/>
                <a:latin typeface="+mn-lt"/>
                <a:ea typeface="+mn-ea"/>
                <a:cs typeface="+mn-cs"/>
              </a:rPr>
              <a:t>Secondd</a:t>
            </a:r>
            <a:r>
              <a:rPr lang="en-US" sz="1200" b="0" i="0" kern="1200" dirty="0">
                <a:solidFill>
                  <a:schemeClr val="tx1"/>
                </a:solidFill>
                <a:effectLst/>
                <a:latin typeface="+mn-lt"/>
                <a:ea typeface="+mn-ea"/>
                <a:cs typeface="+mn-cs"/>
              </a:rPr>
              <a:t>, I switched to a random split so all faculty appear in both training and test sets. The improved ridge regression model achieves 83% sensitivity - we now catch most actual pairings. The tradeoff to this higher sensitivity is lower accuracy at 40%, but for scheduling purposes, it's better to suggest potential matches than miss preferred relationships.</a:t>
            </a:r>
            <a:endParaRPr lang="en-US" dirty="0"/>
          </a:p>
        </p:txBody>
      </p:sp>
      <p:sp>
        <p:nvSpPr>
          <p:cNvPr id="4" name="Slide Number Placeholder 3"/>
          <p:cNvSpPr>
            <a:spLocks noGrp="1"/>
          </p:cNvSpPr>
          <p:nvPr>
            <p:ph type="sldNum" sz="quarter" idx="5"/>
          </p:nvPr>
        </p:nvSpPr>
        <p:spPr/>
        <p:txBody>
          <a:bodyPr/>
          <a:lstStyle/>
          <a:p>
            <a:fld id="{9190CA38-58EC-417B-984D-CA25AFE49717}" type="slidenum">
              <a:rPr lang="en-US" smtClean="0"/>
              <a:t>8</a:t>
            </a:fld>
            <a:endParaRPr lang="en-US"/>
          </a:p>
        </p:txBody>
      </p:sp>
    </p:spTree>
    <p:extLst>
      <p:ext uri="{BB962C8B-B14F-4D97-AF65-F5344CB8AC3E}">
        <p14:creationId xmlns:p14="http://schemas.microsoft.com/office/powerpoint/2010/main" val="3203449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is an example heatmap of the top 10 faculty and the top 10 scheduled CRNAs. The lighter yellow color represents the CRNA having a larger percentage of shifts with a specific Faculty and the darker purple color represents the CRNA having a smaller percentage of shifts with a specific Faculty. From this heatmap we can see CRNA27 is the most scheduled CRNA and appears to have more scheduled shifts with </a:t>
            </a:r>
            <a:r>
              <a:rPr lang="en-US" dirty="0" err="1"/>
              <a:t>FacultyJ</a:t>
            </a:r>
            <a:r>
              <a:rPr lang="en-US" dirty="0"/>
              <a:t> and Faculty50. CRNA27 appears to have the least shifts with Faculty48 and FacultyQ.</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demonstrate the model works, here are predictions for one CRNA. Faculty who actually work with this CRNA - like </a:t>
            </a:r>
            <a:r>
              <a:rPr lang="en-US" sz="1200" b="0" i="0" kern="1200" dirty="0" err="1">
                <a:solidFill>
                  <a:schemeClr val="tx1"/>
                </a:solidFill>
                <a:effectLst/>
                <a:latin typeface="+mn-lt"/>
                <a:ea typeface="+mn-ea"/>
                <a:cs typeface="+mn-cs"/>
              </a:rPr>
              <a:t>FacultyN</a:t>
            </a:r>
            <a:r>
              <a:rPr lang="en-US" sz="1200" b="0" i="0" kern="1200" dirty="0">
                <a:solidFill>
                  <a:schemeClr val="tx1"/>
                </a:solidFill>
                <a:effectLst/>
                <a:latin typeface="+mn-lt"/>
                <a:ea typeface="+mn-ea"/>
                <a:cs typeface="+mn-cs"/>
              </a:rPr>
              <a:t> with 29% actual rate - get high predicted probabilities. Faculty who never work with this CRNA get low probabilities, as low as 3%. The model is successfully ranking faculty by their likelihood of pairing. This works because faculty preferences for specific colleagues are intrinsic and stable - they don't depend on the day of the week or other external factors. Faculty identity directly encodes this preference.</a:t>
            </a:r>
            <a:endParaRPr lang="en-US" dirty="0"/>
          </a:p>
        </p:txBody>
      </p:sp>
      <p:sp>
        <p:nvSpPr>
          <p:cNvPr id="4" name="Slide Number Placeholder 3"/>
          <p:cNvSpPr>
            <a:spLocks noGrp="1"/>
          </p:cNvSpPr>
          <p:nvPr>
            <p:ph type="sldNum" sz="quarter" idx="5"/>
          </p:nvPr>
        </p:nvSpPr>
        <p:spPr/>
        <p:txBody>
          <a:bodyPr/>
          <a:lstStyle/>
          <a:p>
            <a:fld id="{9190CA38-58EC-417B-984D-CA25AFE49717}" type="slidenum">
              <a:rPr lang="en-US" smtClean="0"/>
              <a:t>9</a:t>
            </a:fld>
            <a:endParaRPr lang="en-US"/>
          </a:p>
        </p:txBody>
      </p:sp>
    </p:spTree>
    <p:extLst>
      <p:ext uri="{BB962C8B-B14F-4D97-AF65-F5344CB8AC3E}">
        <p14:creationId xmlns:p14="http://schemas.microsoft.com/office/powerpoint/2010/main" val="35114288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ACAED-903A-3E16-241B-33A51AA11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D5D84D-9EB7-8F30-C194-7C0B410FDC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84A3B1-FA4D-961F-9E49-2132E28CA1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is an example heatmap of the top 10 faculty and the top 10 scheduled CRNAs. The lighter yellow color represents the CRNA having a larger percentage of shifts with a specific Faculty and the darker purple color represents the CRNA having a smaller percentage of shifts with a specific Faculty. From this heatmap we can see CRNA27 is the most scheduled CRNA and appears to have more scheduled shifts with </a:t>
            </a:r>
            <a:r>
              <a:rPr lang="en-US" dirty="0" err="1"/>
              <a:t>FacultyJ</a:t>
            </a:r>
            <a:r>
              <a:rPr lang="en-US" dirty="0"/>
              <a:t> and Faculty50. CRNA27 appears to have the least shifts with Faculty48 and FacultyQ.</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demonstrate the model works, here are predictions for one CRNA. Faculty who actually work with this CRNA - like </a:t>
            </a:r>
            <a:r>
              <a:rPr lang="en-US" sz="1200" b="0" i="0" kern="1200" dirty="0" err="1">
                <a:solidFill>
                  <a:schemeClr val="tx1"/>
                </a:solidFill>
                <a:effectLst/>
                <a:latin typeface="+mn-lt"/>
                <a:ea typeface="+mn-ea"/>
                <a:cs typeface="+mn-cs"/>
              </a:rPr>
              <a:t>FacultyN</a:t>
            </a:r>
            <a:r>
              <a:rPr lang="en-US" sz="1200" b="0" i="0" kern="1200" dirty="0">
                <a:solidFill>
                  <a:schemeClr val="tx1"/>
                </a:solidFill>
                <a:effectLst/>
                <a:latin typeface="+mn-lt"/>
                <a:ea typeface="+mn-ea"/>
                <a:cs typeface="+mn-cs"/>
              </a:rPr>
              <a:t> with 29% actual rate - get high predicted probabilities. Faculty who never work with this CRNA get low probabilities, as low as 3%. The model is successfully ranking faculty by their likelihood of pairing. This works because faculty preferences for specific colleagues are intrinsic and stable - they don't depend on the day of the week or other external factors. Faculty identity directly encodes this preference.</a:t>
            </a:r>
            <a:endParaRPr lang="en-US" dirty="0"/>
          </a:p>
        </p:txBody>
      </p:sp>
      <p:sp>
        <p:nvSpPr>
          <p:cNvPr id="4" name="Slide Number Placeholder 3">
            <a:extLst>
              <a:ext uri="{FF2B5EF4-FFF2-40B4-BE49-F238E27FC236}">
                <a16:creationId xmlns:a16="http://schemas.microsoft.com/office/drawing/2014/main" id="{1D31AEF5-2ED8-269C-8847-AEA884C3655F}"/>
              </a:ext>
            </a:extLst>
          </p:cNvPr>
          <p:cNvSpPr>
            <a:spLocks noGrp="1"/>
          </p:cNvSpPr>
          <p:nvPr>
            <p:ph type="sldNum" sz="quarter" idx="5"/>
          </p:nvPr>
        </p:nvSpPr>
        <p:spPr/>
        <p:txBody>
          <a:bodyPr/>
          <a:lstStyle/>
          <a:p>
            <a:fld id="{9190CA38-58EC-417B-984D-CA25AFE49717}" type="slidenum">
              <a:rPr lang="en-US" smtClean="0"/>
              <a:t>10</a:t>
            </a:fld>
            <a:endParaRPr lang="en-US"/>
          </a:p>
        </p:txBody>
      </p:sp>
    </p:spTree>
    <p:extLst>
      <p:ext uri="{BB962C8B-B14F-4D97-AF65-F5344CB8AC3E}">
        <p14:creationId xmlns:p14="http://schemas.microsoft.com/office/powerpoint/2010/main" val="2654897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conclusion, I achieved 91-92% accuracy for staffing type and team size prediction, and 83% sensitivity for CRNA pairings after applying class weighting techniques. The key limitation is that rare classes like Mixed staffing can’t be predicted with only 7% of the data. The big insight from this analysis is that faculty preferences are intrinsic. They don't change based on weekday or other external factors. This is why historical patterns are our strongest predictors. For schedulers, I recommend using historical preferences as the primary guide, </a:t>
            </a:r>
            <a:r>
              <a:rPr lang="en-US" dirty="0"/>
              <a:t>this will help predict which staffing type and team size each faculty member is likely to prefer on any given shift.</a:t>
            </a:r>
          </a:p>
          <a:p>
            <a:r>
              <a:rPr lang="en-US" dirty="0"/>
              <a:t>Faculty have strong, distinct preferences for staffing type - in fact, only one faculty member uses mixed staffing more than 20% of the time. This means most faculty clearly prefer either CRNAs or residents, and schedulers should respect these preferences to maintain good working relationships.</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and </a:t>
            </a:r>
          </a:p>
          <a:p>
            <a:r>
              <a:rPr lang="en-US" dirty="0"/>
              <a:t>While we can't predict exact pairings with certainty, the model successfully ranks which CRNAs are most likely to work well with each faculty member. This gives schedulers a starting point - instead of guessing, they can see that Faculty48 has a strong preference for CRNA82, or that FacultyQ works frequently with several specific CRNAs, and use that information to build better teams. Overall, implementing these recommendations will lead to better team cohesion, higher staff satisfaction, and ultimately better patient outcomes. </a:t>
            </a:r>
            <a:r>
              <a:rPr lang="en-US" sz="1200" b="0" i="0" kern="1200" dirty="0">
                <a:solidFill>
                  <a:schemeClr val="tx1"/>
                </a:solidFill>
                <a:effectLst/>
                <a:latin typeface="+mn-lt"/>
                <a:ea typeface="+mn-ea"/>
                <a:cs typeface="+mn-cs"/>
              </a:rPr>
              <a:t>Thank you for your time.</a:t>
            </a:r>
            <a:endParaRPr lang="en-US" dirty="0"/>
          </a:p>
        </p:txBody>
      </p:sp>
      <p:sp>
        <p:nvSpPr>
          <p:cNvPr id="4" name="Slide Number Placeholder 3"/>
          <p:cNvSpPr>
            <a:spLocks noGrp="1"/>
          </p:cNvSpPr>
          <p:nvPr>
            <p:ph type="sldNum" sz="quarter" idx="5"/>
          </p:nvPr>
        </p:nvSpPr>
        <p:spPr/>
        <p:txBody>
          <a:bodyPr/>
          <a:lstStyle/>
          <a:p>
            <a:fld id="{9190CA38-58EC-417B-984D-CA25AFE49717}" type="slidenum">
              <a:rPr lang="en-US" smtClean="0"/>
              <a:t>11</a:t>
            </a:fld>
            <a:endParaRPr lang="en-US"/>
          </a:p>
        </p:txBody>
      </p:sp>
    </p:spTree>
    <p:extLst>
      <p:ext uri="{BB962C8B-B14F-4D97-AF65-F5344CB8AC3E}">
        <p14:creationId xmlns:p14="http://schemas.microsoft.com/office/powerpoint/2010/main" val="2335549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7F215B3C-88CF-4CEF-96FC-1D8A8F676445}" type="datetimeFigureOut">
              <a:rPr lang="en-US" smtClean="0"/>
              <a:t>12/12/2025</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A3B7092-88B4-4BF8-9A41-4FB32DE1A2CB}" type="slidenum">
              <a:rPr lang="en-US" smtClean="0"/>
              <a:t>‹#›</a:t>
            </a:fld>
            <a:endParaRPr lang="en-US"/>
          </a:p>
        </p:txBody>
      </p:sp>
    </p:spTree>
    <p:extLst>
      <p:ext uri="{BB962C8B-B14F-4D97-AF65-F5344CB8AC3E}">
        <p14:creationId xmlns:p14="http://schemas.microsoft.com/office/powerpoint/2010/main" val="1218874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215B3C-88CF-4CEF-96FC-1D8A8F67644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A3B7092-88B4-4BF8-9A41-4FB32DE1A2CB}" type="slidenum">
              <a:rPr lang="en-US" smtClean="0"/>
              <a:t>‹#›</a:t>
            </a:fld>
            <a:endParaRPr lang="en-US"/>
          </a:p>
        </p:txBody>
      </p:sp>
    </p:spTree>
    <p:extLst>
      <p:ext uri="{BB962C8B-B14F-4D97-AF65-F5344CB8AC3E}">
        <p14:creationId xmlns:p14="http://schemas.microsoft.com/office/powerpoint/2010/main" val="3325888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7F215B3C-88CF-4CEF-96FC-1D8A8F676445}" type="datetimeFigureOut">
              <a:rPr lang="en-US" smtClean="0"/>
              <a:t>12/12/2025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A3B7092-88B4-4BF8-9A41-4FB32DE1A2CB}" type="slidenum">
              <a:rPr lang="en-US" smtClean="0"/>
              <a:t>‹#›</a:t>
            </a:fld>
            <a:endParaRPr lang="en-US"/>
          </a:p>
        </p:txBody>
      </p:sp>
    </p:spTree>
    <p:extLst>
      <p:ext uri="{BB962C8B-B14F-4D97-AF65-F5344CB8AC3E}">
        <p14:creationId xmlns:p14="http://schemas.microsoft.com/office/powerpoint/2010/main" val="4022546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215B3C-88CF-4CEF-96FC-1D8A8F676445}"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3B7092-88B4-4BF8-9A41-4FB32DE1A2CB}" type="slidenum">
              <a:rPr lang="en-US" smtClean="0"/>
              <a:t>‹#›</a:t>
            </a:fld>
            <a:endParaRPr lang="en-US"/>
          </a:p>
        </p:txBody>
      </p:sp>
    </p:spTree>
    <p:extLst>
      <p:ext uri="{BB962C8B-B14F-4D97-AF65-F5344CB8AC3E}">
        <p14:creationId xmlns:p14="http://schemas.microsoft.com/office/powerpoint/2010/main" val="837141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215B3C-88CF-4CEF-96FC-1D8A8F676445}" type="datetimeFigureOut">
              <a:rPr lang="en-US"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3B7092-88B4-4BF8-9A41-4FB32DE1A2CB}" type="slidenum">
              <a:rPr lang="en-US" smtClean="0"/>
              <a:t>‹#›</a:t>
            </a:fld>
            <a:endParaRPr lang="en-US"/>
          </a:p>
        </p:txBody>
      </p:sp>
    </p:spTree>
    <p:extLst>
      <p:ext uri="{BB962C8B-B14F-4D97-AF65-F5344CB8AC3E}">
        <p14:creationId xmlns:p14="http://schemas.microsoft.com/office/powerpoint/2010/main" val="149298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215B3C-88CF-4CEF-96FC-1D8A8F676445}" type="datetimeFigureOut">
              <a:rPr lang="en-US" smtClean="0"/>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3B7092-88B4-4BF8-9A41-4FB32DE1A2CB}" type="slidenum">
              <a:rPr lang="en-US" smtClean="0"/>
              <a:t>‹#›</a:t>
            </a:fld>
            <a:endParaRPr lang="en-US"/>
          </a:p>
        </p:txBody>
      </p:sp>
    </p:spTree>
    <p:extLst>
      <p:ext uri="{BB962C8B-B14F-4D97-AF65-F5344CB8AC3E}">
        <p14:creationId xmlns:p14="http://schemas.microsoft.com/office/powerpoint/2010/main" val="4013863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215B3C-88CF-4CEF-96FC-1D8A8F676445}" type="datetimeFigureOut">
              <a:rPr lang="en-US" smtClean="0"/>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3B7092-88B4-4BF8-9A41-4FB32DE1A2CB}" type="slidenum">
              <a:rPr lang="en-US" smtClean="0"/>
              <a:t>‹#›</a:t>
            </a:fld>
            <a:endParaRPr lang="en-US"/>
          </a:p>
        </p:txBody>
      </p:sp>
    </p:spTree>
    <p:extLst>
      <p:ext uri="{BB962C8B-B14F-4D97-AF65-F5344CB8AC3E}">
        <p14:creationId xmlns:p14="http://schemas.microsoft.com/office/powerpoint/2010/main" val="3493551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F215B3C-88CF-4CEF-96FC-1D8A8F676445}" type="datetimeFigureOut">
              <a:rPr lang="en-US" smtClean="0"/>
              <a:t>12/12/2025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A3B7092-88B4-4BF8-9A41-4FB32DE1A2CB}" type="slidenum">
              <a:rPr lang="en-US" smtClean="0"/>
              <a:t>‹#›</a:t>
            </a:fld>
            <a:endParaRPr lang="en-US"/>
          </a:p>
        </p:txBody>
      </p:sp>
    </p:spTree>
    <p:extLst>
      <p:ext uri="{BB962C8B-B14F-4D97-AF65-F5344CB8AC3E}">
        <p14:creationId xmlns:p14="http://schemas.microsoft.com/office/powerpoint/2010/main" val="3773192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215B3C-88CF-4CEF-96FC-1D8A8F676445}"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3B7092-88B4-4BF8-9A41-4FB32DE1A2CB}" type="slidenum">
              <a:rPr lang="en-US" smtClean="0"/>
              <a:t>‹#›</a:t>
            </a:fld>
            <a:endParaRPr lang="en-US"/>
          </a:p>
        </p:txBody>
      </p:sp>
    </p:spTree>
    <p:extLst>
      <p:ext uri="{BB962C8B-B14F-4D97-AF65-F5344CB8AC3E}">
        <p14:creationId xmlns:p14="http://schemas.microsoft.com/office/powerpoint/2010/main" val="3858120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215B3C-88CF-4CEF-96FC-1D8A8F67644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3B7092-88B4-4BF8-9A41-4FB32DE1A2CB}" type="slidenum">
              <a:rPr lang="en-US" smtClean="0"/>
              <a:t>‹#›</a:t>
            </a:fld>
            <a:endParaRPr lang="en-US"/>
          </a:p>
        </p:txBody>
      </p:sp>
    </p:spTree>
    <p:extLst>
      <p:ext uri="{BB962C8B-B14F-4D97-AF65-F5344CB8AC3E}">
        <p14:creationId xmlns:p14="http://schemas.microsoft.com/office/powerpoint/2010/main" val="375084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7F215B3C-88CF-4CEF-96FC-1D8A8F676445}" type="datetimeFigureOut">
              <a:rPr lang="en-US" smtClean="0"/>
              <a:t>12/12/2025</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A3B7092-88B4-4BF8-9A41-4FB32DE1A2CB}" type="slidenum">
              <a:rPr lang="en-US" smtClean="0"/>
              <a:t>‹#›</a:t>
            </a:fld>
            <a:endParaRPr lang="en-US"/>
          </a:p>
        </p:txBody>
      </p:sp>
    </p:spTree>
    <p:extLst>
      <p:ext uri="{BB962C8B-B14F-4D97-AF65-F5344CB8AC3E}">
        <p14:creationId xmlns:p14="http://schemas.microsoft.com/office/powerpoint/2010/main" val="3767598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7F215B3C-88CF-4CEF-96FC-1D8A8F676445}" type="datetimeFigureOut">
              <a:rPr lang="en-US" smtClean="0"/>
              <a:t>12/12/2025</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A3B7092-88B4-4BF8-9A41-4FB32DE1A2CB}"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2003702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987D9-5C9E-3F23-C83E-6A888F5AD785}"/>
              </a:ext>
            </a:extLst>
          </p:cNvPr>
          <p:cNvSpPr>
            <a:spLocks noGrp="1"/>
          </p:cNvSpPr>
          <p:nvPr>
            <p:ph type="ctrTitle"/>
          </p:nvPr>
        </p:nvSpPr>
        <p:spPr/>
        <p:txBody>
          <a:bodyPr>
            <a:noAutofit/>
          </a:bodyPr>
          <a:lstStyle/>
          <a:p>
            <a:r>
              <a:rPr lang="en-US" sz="4800" dirty="0"/>
              <a:t>Healthcare Faculty Scheduling: Predicting Staffing Preferences</a:t>
            </a:r>
          </a:p>
        </p:txBody>
      </p:sp>
      <p:sp>
        <p:nvSpPr>
          <p:cNvPr id="3" name="Subtitle 2">
            <a:extLst>
              <a:ext uri="{FF2B5EF4-FFF2-40B4-BE49-F238E27FC236}">
                <a16:creationId xmlns:a16="http://schemas.microsoft.com/office/drawing/2014/main" id="{192BAE02-28FD-9872-AB86-6AA2CAA3C725}"/>
              </a:ext>
            </a:extLst>
          </p:cNvPr>
          <p:cNvSpPr>
            <a:spLocks noGrp="1"/>
          </p:cNvSpPr>
          <p:nvPr>
            <p:ph type="subTitle" idx="1"/>
          </p:nvPr>
        </p:nvSpPr>
        <p:spPr/>
        <p:txBody>
          <a:bodyPr/>
          <a:lstStyle/>
          <a:p>
            <a:r>
              <a:rPr lang="en-US" dirty="0"/>
              <a:t>Elizabeth Obst</a:t>
            </a:r>
          </a:p>
        </p:txBody>
      </p:sp>
    </p:spTree>
    <p:extLst>
      <p:ext uri="{BB962C8B-B14F-4D97-AF65-F5344CB8AC3E}">
        <p14:creationId xmlns:p14="http://schemas.microsoft.com/office/powerpoint/2010/main" val="1913690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6EE9C-A4E8-373F-0DC3-E634B2881DCA}"/>
              </a:ext>
            </a:extLst>
          </p:cNvPr>
          <p:cNvSpPr>
            <a:spLocks noGrp="1"/>
          </p:cNvSpPr>
          <p:nvPr>
            <p:ph type="title"/>
          </p:nvPr>
        </p:nvSpPr>
        <p:spPr/>
        <p:txBody>
          <a:bodyPr/>
          <a:lstStyle/>
          <a:p>
            <a:r>
              <a:rPr lang="en-US" dirty="0"/>
              <a:t>Scheduling Challenge</a:t>
            </a:r>
          </a:p>
        </p:txBody>
      </p:sp>
      <p:sp>
        <p:nvSpPr>
          <p:cNvPr id="3" name="Content Placeholder 2">
            <a:extLst>
              <a:ext uri="{FF2B5EF4-FFF2-40B4-BE49-F238E27FC236}">
                <a16:creationId xmlns:a16="http://schemas.microsoft.com/office/drawing/2014/main" id="{E0BD8C8E-25B3-9C2A-69C8-E35F5E545010}"/>
              </a:ext>
            </a:extLst>
          </p:cNvPr>
          <p:cNvSpPr>
            <a:spLocks noGrp="1"/>
          </p:cNvSpPr>
          <p:nvPr>
            <p:ph idx="1"/>
          </p:nvPr>
        </p:nvSpPr>
        <p:spPr>
          <a:xfrm>
            <a:off x="581192" y="2180496"/>
            <a:ext cx="11029615" cy="4436204"/>
          </a:xfrm>
        </p:spPr>
        <p:txBody>
          <a:bodyPr>
            <a:normAutofit/>
          </a:bodyPr>
          <a:lstStyle/>
          <a:p>
            <a:r>
              <a:rPr lang="en-US" dirty="0"/>
              <a:t>Complexity</a:t>
            </a:r>
          </a:p>
          <a:p>
            <a:pPr lvl="1"/>
            <a:r>
              <a:rPr lang="en-US" dirty="0"/>
              <a:t>Coordinating 53 faculty with 80+ CRNAs and 80+ residents</a:t>
            </a:r>
          </a:p>
          <a:p>
            <a:pPr lvl="1"/>
            <a:r>
              <a:rPr lang="en-US" dirty="0"/>
              <a:t>Multiple operating rooms and shift types</a:t>
            </a:r>
          </a:p>
          <a:p>
            <a:r>
              <a:rPr lang="en-US" dirty="0"/>
              <a:t>Why It Matters</a:t>
            </a:r>
          </a:p>
          <a:p>
            <a:pPr lvl="1"/>
            <a:r>
              <a:rPr lang="en-US" dirty="0"/>
              <a:t>Better staff matching improves patient outcomes</a:t>
            </a:r>
          </a:p>
          <a:p>
            <a:pPr lvl="1"/>
            <a:r>
              <a:rPr lang="en-US" dirty="0"/>
              <a:t>Higher satisfaction and reduced burnout</a:t>
            </a:r>
          </a:p>
          <a:p>
            <a:r>
              <a:rPr lang="en-US" dirty="0"/>
              <a:t>Research Questions</a:t>
            </a:r>
          </a:p>
          <a:p>
            <a:pPr lvl="1"/>
            <a:r>
              <a:rPr lang="en-US" dirty="0"/>
              <a:t>Staffing Type- Do faculty prefer CRNAs only, residents only, or mixed teams?</a:t>
            </a:r>
          </a:p>
          <a:p>
            <a:pPr lvl="1"/>
            <a:r>
              <a:rPr lang="en-US" dirty="0"/>
              <a:t>Team Size- Do faculty prefer small (1-2), medium (3-4), or large (5+)?</a:t>
            </a:r>
          </a:p>
          <a:p>
            <a:pPr lvl="1"/>
            <a:r>
              <a:rPr lang="en-US" dirty="0"/>
              <a:t>Specific Staff- Which individual CRNAs does each faculty prefer?</a:t>
            </a:r>
          </a:p>
          <a:p>
            <a:pPr lvl="1"/>
            <a:endParaRPr lang="en-US" dirty="0"/>
          </a:p>
        </p:txBody>
      </p:sp>
    </p:spTree>
    <p:extLst>
      <p:ext uri="{BB962C8B-B14F-4D97-AF65-F5344CB8AC3E}">
        <p14:creationId xmlns:p14="http://schemas.microsoft.com/office/powerpoint/2010/main" val="3320053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0F409-872B-F1FD-8ACF-5FA045B03D23}"/>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E1D43244-C3D9-DCFD-D8E4-A6987F70D169}"/>
              </a:ext>
            </a:extLst>
          </p:cNvPr>
          <p:cNvSpPr>
            <a:spLocks noGrp="1"/>
          </p:cNvSpPr>
          <p:nvPr>
            <p:ph idx="1"/>
          </p:nvPr>
        </p:nvSpPr>
        <p:spPr>
          <a:xfrm>
            <a:off x="838200" y="1825625"/>
            <a:ext cx="5257800" cy="4351338"/>
          </a:xfrm>
        </p:spPr>
        <p:txBody>
          <a:bodyPr>
            <a:normAutofit fontScale="92500" lnSpcReduction="20000"/>
          </a:bodyPr>
          <a:lstStyle/>
          <a:p>
            <a:r>
              <a:rPr lang="en-US" dirty="0"/>
              <a:t>Key Statistics</a:t>
            </a:r>
          </a:p>
          <a:p>
            <a:pPr lvl="1"/>
            <a:r>
              <a:rPr lang="en-US" dirty="0"/>
              <a:t>2,924 shift records</a:t>
            </a:r>
          </a:p>
          <a:p>
            <a:pPr lvl="1"/>
            <a:r>
              <a:rPr lang="en-US" dirty="0"/>
              <a:t>53 unique faculty</a:t>
            </a:r>
          </a:p>
          <a:p>
            <a:pPr lvl="1"/>
            <a:r>
              <a:rPr lang="en-US" dirty="0"/>
              <a:t>160+ CRNA and Residents</a:t>
            </a:r>
          </a:p>
          <a:p>
            <a:pPr lvl="1"/>
            <a:r>
              <a:rPr lang="en-US" dirty="0"/>
              <a:t>1 year of data (August 2024-August 2025)</a:t>
            </a:r>
          </a:p>
          <a:p>
            <a:r>
              <a:rPr lang="en-US" dirty="0"/>
              <a:t>Key Variables</a:t>
            </a:r>
          </a:p>
          <a:p>
            <a:pPr lvl="1"/>
            <a:r>
              <a:rPr lang="en-US" dirty="0"/>
              <a:t>Temporal: Date, weekday, holiday, shift type</a:t>
            </a:r>
          </a:p>
          <a:p>
            <a:pPr lvl="1"/>
            <a:r>
              <a:rPr lang="en-US" dirty="0"/>
              <a:t>Faculty: Experience, Team memberships, demographics</a:t>
            </a:r>
          </a:p>
          <a:p>
            <a:pPr lvl="1"/>
            <a:r>
              <a:rPr lang="en-US" dirty="0"/>
              <a:t>Staffing: 80+ CRNA columns, 80+ Resident columns (binary True/False)</a:t>
            </a:r>
          </a:p>
          <a:p>
            <a:r>
              <a:rPr lang="en-US" dirty="0"/>
              <a:t>Key Challenge- Class Imbalance</a:t>
            </a:r>
          </a:p>
          <a:p>
            <a:pPr lvl="1"/>
            <a:r>
              <a:rPr lang="en-US" dirty="0"/>
              <a:t>CRNA only: 57%</a:t>
            </a:r>
          </a:p>
          <a:p>
            <a:pPr lvl="1"/>
            <a:r>
              <a:rPr lang="en-US" dirty="0"/>
              <a:t>Resident only: 36%</a:t>
            </a:r>
          </a:p>
          <a:p>
            <a:pPr lvl="1"/>
            <a:r>
              <a:rPr lang="en-US" dirty="0"/>
              <a:t>Mixed: 7%</a:t>
            </a:r>
          </a:p>
        </p:txBody>
      </p:sp>
      <p:pic>
        <p:nvPicPr>
          <p:cNvPr id="4" name="Picture 3" descr="A graph of staffing type&#10;&#10;AI-generated content may be incorrect.">
            <a:extLst>
              <a:ext uri="{FF2B5EF4-FFF2-40B4-BE49-F238E27FC236}">
                <a16:creationId xmlns:a16="http://schemas.microsoft.com/office/drawing/2014/main" id="{C8B28DA8-D396-BC26-3029-C9ECF6BCA6DB}"/>
              </a:ext>
            </a:extLst>
          </p:cNvPr>
          <p:cNvPicPr>
            <a:picLocks noChangeAspect="1"/>
          </p:cNvPicPr>
          <p:nvPr/>
        </p:nvPicPr>
        <p:blipFill>
          <a:blip r:embed="rId3"/>
          <a:stretch>
            <a:fillRect/>
          </a:stretch>
        </p:blipFill>
        <p:spPr>
          <a:xfrm>
            <a:off x="6096000" y="1825625"/>
            <a:ext cx="6096000" cy="3951725"/>
          </a:xfrm>
          <a:prstGeom prst="rect">
            <a:avLst/>
          </a:prstGeom>
        </p:spPr>
      </p:pic>
    </p:spTree>
    <p:extLst>
      <p:ext uri="{BB962C8B-B14F-4D97-AF65-F5344CB8AC3E}">
        <p14:creationId xmlns:p14="http://schemas.microsoft.com/office/powerpoint/2010/main" val="3163005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B72C5-27DC-CB36-866E-40CD030AB066}"/>
              </a:ext>
            </a:extLst>
          </p:cNvPr>
          <p:cNvSpPr>
            <a:spLocks noGrp="1"/>
          </p:cNvSpPr>
          <p:nvPr>
            <p:ph type="title"/>
          </p:nvPr>
        </p:nvSpPr>
        <p:spPr/>
        <p:txBody>
          <a:bodyPr/>
          <a:lstStyle/>
          <a:p>
            <a:r>
              <a:rPr lang="en-US" dirty="0"/>
              <a:t>Exploratory Data Analysis</a:t>
            </a:r>
          </a:p>
        </p:txBody>
      </p:sp>
      <p:sp>
        <p:nvSpPr>
          <p:cNvPr id="3" name="Content Placeholder 2">
            <a:extLst>
              <a:ext uri="{FF2B5EF4-FFF2-40B4-BE49-F238E27FC236}">
                <a16:creationId xmlns:a16="http://schemas.microsoft.com/office/drawing/2014/main" id="{5AC3EF74-E22A-25FB-12F2-9AEC7C44352D}"/>
              </a:ext>
            </a:extLst>
          </p:cNvPr>
          <p:cNvSpPr>
            <a:spLocks noGrp="1"/>
          </p:cNvSpPr>
          <p:nvPr>
            <p:ph idx="1"/>
          </p:nvPr>
        </p:nvSpPr>
        <p:spPr>
          <a:xfrm>
            <a:off x="581192" y="2180496"/>
            <a:ext cx="11029615" cy="4258404"/>
          </a:xfrm>
        </p:spPr>
        <p:txBody>
          <a:bodyPr>
            <a:normAutofit fontScale="85000" lnSpcReduction="20000"/>
          </a:bodyPr>
          <a:lstStyle/>
          <a:p>
            <a:r>
              <a:rPr lang="en-US" dirty="0"/>
              <a:t>Faculty Preferences Vary Significantly</a:t>
            </a:r>
          </a:p>
          <a:p>
            <a:pPr lvl="1"/>
            <a:r>
              <a:rPr lang="en-US" dirty="0"/>
              <a:t>FacultyQ: 100% CRNA only</a:t>
            </a:r>
          </a:p>
          <a:p>
            <a:pPr lvl="1"/>
            <a:r>
              <a:rPr lang="en-US" dirty="0"/>
              <a:t>Faculty31: 81% Resident only</a:t>
            </a:r>
          </a:p>
          <a:p>
            <a:pPr lvl="1"/>
            <a:r>
              <a:rPr lang="en-US" dirty="0" err="1"/>
              <a:t>FacultyE</a:t>
            </a:r>
            <a:r>
              <a:rPr lang="en-US" dirty="0"/>
              <a:t>: 38% CRNA, 45% Resident, 17% Mixed</a:t>
            </a:r>
          </a:p>
          <a:p>
            <a:pPr lvl="1"/>
            <a:r>
              <a:rPr lang="en-US" dirty="0"/>
              <a:t>Chi- square test: X</a:t>
            </a:r>
            <a:r>
              <a:rPr lang="en-US" baseline="30000" dirty="0"/>
              <a:t>2 </a:t>
            </a:r>
            <a:r>
              <a:rPr lang="en-US" dirty="0"/>
              <a:t>= 948, p &lt; 0.001</a:t>
            </a:r>
          </a:p>
          <a:p>
            <a:r>
              <a:rPr lang="en-US" dirty="0"/>
              <a:t>Strong Room-Team Correlation</a:t>
            </a:r>
          </a:p>
          <a:p>
            <a:pPr lvl="1"/>
            <a:r>
              <a:rPr lang="en-US" dirty="0"/>
              <a:t>R = 0.76, p &lt; 0.001</a:t>
            </a:r>
          </a:p>
          <a:p>
            <a:pPr lvl="1"/>
            <a:r>
              <a:rPr lang="en-US" dirty="0"/>
              <a:t>More rooms = larger teams</a:t>
            </a:r>
          </a:p>
          <a:p>
            <a:r>
              <a:rPr lang="en-US" dirty="0"/>
              <a:t>Weekday has no effect</a:t>
            </a:r>
          </a:p>
          <a:p>
            <a:pPr lvl="1"/>
            <a:r>
              <a:rPr lang="en-US" dirty="0"/>
              <a:t>Chi-square: p = 0.779</a:t>
            </a:r>
          </a:p>
          <a:p>
            <a:pPr lvl="1"/>
            <a:r>
              <a:rPr lang="en-US" dirty="0"/>
              <a:t>Staffing consistent Monday-Friday</a:t>
            </a:r>
          </a:p>
          <a:p>
            <a:r>
              <a:rPr lang="en-US" dirty="0"/>
              <a:t>Holidays have no effect</a:t>
            </a:r>
          </a:p>
          <a:p>
            <a:pPr lvl="1"/>
            <a:r>
              <a:rPr lang="en-US" dirty="0"/>
              <a:t>T-test: p = 0.758</a:t>
            </a:r>
          </a:p>
          <a:p>
            <a:pPr lvl="1"/>
            <a:r>
              <a:rPr lang="en-US" dirty="0"/>
              <a:t>Team sizes same on holidays vs regular days</a:t>
            </a:r>
          </a:p>
        </p:txBody>
      </p:sp>
      <p:pic>
        <p:nvPicPr>
          <p:cNvPr id="4" name="Picture 3" descr="A graph of different colored bars&#10;&#10;AI-generated content may be incorrect.">
            <a:extLst>
              <a:ext uri="{FF2B5EF4-FFF2-40B4-BE49-F238E27FC236}">
                <a16:creationId xmlns:a16="http://schemas.microsoft.com/office/drawing/2014/main" id="{233C79C4-0A36-0B4A-8C9F-DA80080CE6FB}"/>
              </a:ext>
            </a:extLst>
          </p:cNvPr>
          <p:cNvPicPr>
            <a:picLocks noChangeAspect="1"/>
          </p:cNvPicPr>
          <p:nvPr/>
        </p:nvPicPr>
        <p:blipFill>
          <a:blip r:embed="rId3"/>
          <a:stretch>
            <a:fillRect/>
          </a:stretch>
        </p:blipFill>
        <p:spPr>
          <a:xfrm>
            <a:off x="6704904" y="2247308"/>
            <a:ext cx="5487096" cy="3507972"/>
          </a:xfrm>
          <a:prstGeom prst="rect">
            <a:avLst/>
          </a:prstGeom>
        </p:spPr>
      </p:pic>
    </p:spTree>
    <p:extLst>
      <p:ext uri="{BB962C8B-B14F-4D97-AF65-F5344CB8AC3E}">
        <p14:creationId xmlns:p14="http://schemas.microsoft.com/office/powerpoint/2010/main" val="2897850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75071-CF0E-6467-E741-5935A5B011AE}"/>
              </a:ext>
            </a:extLst>
          </p:cNvPr>
          <p:cNvSpPr>
            <a:spLocks noGrp="1"/>
          </p:cNvSpPr>
          <p:nvPr>
            <p:ph type="title"/>
          </p:nvPr>
        </p:nvSpPr>
        <p:spPr/>
        <p:txBody>
          <a:bodyPr/>
          <a:lstStyle/>
          <a:p>
            <a:r>
              <a:rPr lang="en-US" dirty="0"/>
              <a:t>Feature Engineering</a:t>
            </a:r>
          </a:p>
        </p:txBody>
      </p:sp>
      <p:sp>
        <p:nvSpPr>
          <p:cNvPr id="3" name="Content Placeholder 2">
            <a:extLst>
              <a:ext uri="{FF2B5EF4-FFF2-40B4-BE49-F238E27FC236}">
                <a16:creationId xmlns:a16="http://schemas.microsoft.com/office/drawing/2014/main" id="{5E78D50D-13ED-4119-2B14-18DFF9B7D23C}"/>
              </a:ext>
            </a:extLst>
          </p:cNvPr>
          <p:cNvSpPr>
            <a:spLocks noGrp="1"/>
          </p:cNvSpPr>
          <p:nvPr>
            <p:ph idx="1"/>
          </p:nvPr>
        </p:nvSpPr>
        <p:spPr>
          <a:xfrm>
            <a:off x="581192" y="2180496"/>
            <a:ext cx="11029615" cy="4258404"/>
          </a:xfrm>
        </p:spPr>
        <p:txBody>
          <a:bodyPr>
            <a:normAutofit fontScale="85000" lnSpcReduction="20000"/>
          </a:bodyPr>
          <a:lstStyle/>
          <a:p>
            <a:r>
              <a:rPr lang="en-US" dirty="0"/>
              <a:t>Created Target Variables:</a:t>
            </a:r>
          </a:p>
          <a:p>
            <a:pPr lvl="1"/>
            <a:r>
              <a:rPr lang="en-US" dirty="0" err="1"/>
              <a:t>Staffing_Type</a:t>
            </a:r>
            <a:r>
              <a:rPr lang="en-US" dirty="0"/>
              <a:t>: </a:t>
            </a:r>
            <a:r>
              <a:rPr lang="en-US" dirty="0" err="1"/>
              <a:t>CRNA_Only</a:t>
            </a:r>
            <a:r>
              <a:rPr lang="en-US" dirty="0"/>
              <a:t>, Mixed, </a:t>
            </a:r>
            <a:r>
              <a:rPr lang="en-US" dirty="0" err="1"/>
              <a:t>Resident_Only</a:t>
            </a:r>
            <a:endParaRPr lang="en-US" dirty="0"/>
          </a:p>
          <a:p>
            <a:pPr lvl="1"/>
            <a:r>
              <a:rPr lang="en-US" dirty="0" err="1"/>
              <a:t>Team_Size_Category</a:t>
            </a:r>
            <a:r>
              <a:rPr lang="en-US" dirty="0"/>
              <a:t>: Small (1-2), Medium (3-4), Large (5+)</a:t>
            </a:r>
          </a:p>
          <a:p>
            <a:pPr lvl="1"/>
            <a:r>
              <a:rPr lang="en-US" dirty="0"/>
              <a:t>CRNA Pairing: Binary indicator for each top CRNA</a:t>
            </a:r>
          </a:p>
          <a:p>
            <a:r>
              <a:rPr lang="en-US" dirty="0"/>
              <a:t>Temporal Features:</a:t>
            </a:r>
          </a:p>
          <a:p>
            <a:pPr lvl="1"/>
            <a:r>
              <a:rPr lang="en-US" dirty="0" err="1"/>
              <a:t>WeekdayNum</a:t>
            </a:r>
            <a:r>
              <a:rPr lang="en-US" dirty="0"/>
              <a:t> (1-7)</a:t>
            </a:r>
          </a:p>
          <a:p>
            <a:pPr lvl="1"/>
            <a:r>
              <a:rPr lang="en-US" dirty="0"/>
              <a:t>Holiday indicator</a:t>
            </a:r>
          </a:p>
          <a:p>
            <a:pPr lvl="1"/>
            <a:r>
              <a:rPr lang="en-US" dirty="0"/>
              <a:t>Shift duration (7-3 vs 7-5)</a:t>
            </a:r>
          </a:p>
          <a:p>
            <a:r>
              <a:rPr lang="en-US" dirty="0"/>
              <a:t>Key Predictors – Faculty Historical Features:</a:t>
            </a:r>
          </a:p>
          <a:p>
            <a:pPr lvl="1"/>
            <a:r>
              <a:rPr lang="en-US" dirty="0" err="1"/>
              <a:t>Hist_CRNA_Only_Rate</a:t>
            </a:r>
            <a:r>
              <a:rPr lang="en-US" dirty="0"/>
              <a:t> (% of shifts with CRNA only), </a:t>
            </a:r>
            <a:r>
              <a:rPr lang="en-US" dirty="0" err="1"/>
              <a:t>Hist_Mixed_Rate</a:t>
            </a:r>
            <a:r>
              <a:rPr lang="en-US" dirty="0"/>
              <a:t>, </a:t>
            </a:r>
            <a:r>
              <a:rPr lang="en-US" dirty="0" err="1"/>
              <a:t>Hist_Resident_Only_Rate</a:t>
            </a:r>
            <a:r>
              <a:rPr lang="en-US" dirty="0"/>
              <a:t> , </a:t>
            </a:r>
            <a:r>
              <a:rPr lang="en-US" dirty="0" err="1"/>
              <a:t>Hist_Avg_Team_Size</a:t>
            </a:r>
            <a:r>
              <a:rPr lang="en-US" dirty="0"/>
              <a:t>, </a:t>
            </a:r>
            <a:r>
              <a:rPr lang="en-US" dirty="0" err="1"/>
              <a:t>Hist_Avg_CRNA</a:t>
            </a:r>
            <a:r>
              <a:rPr lang="en-US" dirty="0"/>
              <a:t>, </a:t>
            </a:r>
            <a:r>
              <a:rPr lang="en-US" dirty="0" err="1"/>
              <a:t>Hist_Avg_Resident</a:t>
            </a:r>
            <a:endParaRPr lang="en-US" dirty="0"/>
          </a:p>
          <a:p>
            <a:r>
              <a:rPr lang="en-US" dirty="0"/>
              <a:t>Availability Metrics:</a:t>
            </a:r>
          </a:p>
          <a:p>
            <a:pPr lvl="1"/>
            <a:r>
              <a:rPr lang="en-US" dirty="0" err="1"/>
              <a:t>Avg_CRNA_Count</a:t>
            </a:r>
            <a:r>
              <a:rPr lang="en-US" dirty="0"/>
              <a:t>, </a:t>
            </a:r>
            <a:r>
              <a:rPr lang="en-US" dirty="0" err="1"/>
              <a:t>Avg_Res_Count</a:t>
            </a:r>
            <a:r>
              <a:rPr lang="en-US" dirty="0"/>
              <a:t>, </a:t>
            </a:r>
            <a:r>
              <a:rPr lang="en-US" dirty="0" err="1"/>
              <a:t>Avg_Room_Count</a:t>
            </a:r>
            <a:endParaRPr lang="en-US" dirty="0"/>
          </a:p>
          <a:p>
            <a:r>
              <a:rPr lang="en-US" dirty="0"/>
              <a:t>Data Split: 80% training (n=2,116), 20% test (n=530)</a:t>
            </a:r>
          </a:p>
          <a:p>
            <a:endParaRPr lang="en-US" dirty="0"/>
          </a:p>
        </p:txBody>
      </p:sp>
    </p:spTree>
    <p:extLst>
      <p:ext uri="{BB962C8B-B14F-4D97-AF65-F5344CB8AC3E}">
        <p14:creationId xmlns:p14="http://schemas.microsoft.com/office/powerpoint/2010/main" val="1730858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E8A64-8331-E20B-E2E9-C1942E6F23D1}"/>
              </a:ext>
            </a:extLst>
          </p:cNvPr>
          <p:cNvSpPr>
            <a:spLocks noGrp="1"/>
          </p:cNvSpPr>
          <p:nvPr>
            <p:ph type="title"/>
          </p:nvPr>
        </p:nvSpPr>
        <p:spPr/>
        <p:txBody>
          <a:bodyPr/>
          <a:lstStyle/>
          <a:p>
            <a:r>
              <a:rPr lang="en-US" dirty="0"/>
              <a:t>Model 1 – Staffing Type Preferences</a:t>
            </a:r>
          </a:p>
        </p:txBody>
      </p:sp>
      <p:sp>
        <p:nvSpPr>
          <p:cNvPr id="3" name="Content Placeholder 2">
            <a:extLst>
              <a:ext uri="{FF2B5EF4-FFF2-40B4-BE49-F238E27FC236}">
                <a16:creationId xmlns:a16="http://schemas.microsoft.com/office/drawing/2014/main" id="{DF930BC8-3A95-EF1B-A8FC-585EB2346F86}"/>
              </a:ext>
            </a:extLst>
          </p:cNvPr>
          <p:cNvSpPr>
            <a:spLocks noGrp="1"/>
          </p:cNvSpPr>
          <p:nvPr>
            <p:ph idx="1"/>
          </p:nvPr>
        </p:nvSpPr>
        <p:spPr>
          <a:xfrm>
            <a:off x="838200" y="1825625"/>
            <a:ext cx="5257800" cy="4351338"/>
          </a:xfrm>
        </p:spPr>
        <p:txBody>
          <a:bodyPr>
            <a:normAutofit/>
          </a:bodyPr>
          <a:lstStyle/>
          <a:p>
            <a:r>
              <a:rPr lang="en-US" dirty="0"/>
              <a:t>What Worked: All models beat baseline by 16+ percentage points </a:t>
            </a:r>
          </a:p>
          <a:p>
            <a:r>
              <a:rPr lang="en-US" dirty="0"/>
              <a:t>Limitation: Mixed class (only 7% of data) cannot be predicted - 0% sensitivity </a:t>
            </a:r>
          </a:p>
          <a:p>
            <a:r>
              <a:rPr lang="en-US" dirty="0"/>
              <a:t>Key Insight: All three methods found identical solutions - relationship is linear</a:t>
            </a:r>
          </a:p>
        </p:txBody>
      </p:sp>
      <p:graphicFrame>
        <p:nvGraphicFramePr>
          <p:cNvPr id="4" name="Table 3">
            <a:extLst>
              <a:ext uri="{FF2B5EF4-FFF2-40B4-BE49-F238E27FC236}">
                <a16:creationId xmlns:a16="http://schemas.microsoft.com/office/drawing/2014/main" id="{35FA026B-E9DA-B3DE-530C-5ED0C1503500}"/>
              </a:ext>
            </a:extLst>
          </p:cNvPr>
          <p:cNvGraphicFramePr>
            <a:graphicFrameLocks noGrp="1"/>
          </p:cNvGraphicFramePr>
          <p:nvPr>
            <p:extLst>
              <p:ext uri="{D42A27DB-BD31-4B8C-83A1-F6EECF244321}">
                <p14:modId xmlns:p14="http://schemas.microsoft.com/office/powerpoint/2010/main" val="1836082826"/>
              </p:ext>
            </p:extLst>
          </p:nvPr>
        </p:nvGraphicFramePr>
        <p:xfrm>
          <a:off x="6592126" y="2344798"/>
          <a:ext cx="4404425" cy="1854200"/>
        </p:xfrm>
        <a:graphic>
          <a:graphicData uri="http://schemas.openxmlformats.org/drawingml/2006/table">
            <a:tbl>
              <a:tblPr firstRow="1" bandRow="1">
                <a:tableStyleId>{5C22544A-7EE6-4342-B048-85BDC9FD1C3A}</a:tableStyleId>
              </a:tblPr>
              <a:tblGrid>
                <a:gridCol w="2159988">
                  <a:extLst>
                    <a:ext uri="{9D8B030D-6E8A-4147-A177-3AD203B41FA5}">
                      <a16:colId xmlns:a16="http://schemas.microsoft.com/office/drawing/2014/main" val="3279890797"/>
                    </a:ext>
                  </a:extLst>
                </a:gridCol>
                <a:gridCol w="1258785">
                  <a:extLst>
                    <a:ext uri="{9D8B030D-6E8A-4147-A177-3AD203B41FA5}">
                      <a16:colId xmlns:a16="http://schemas.microsoft.com/office/drawing/2014/main" val="3010551856"/>
                    </a:ext>
                  </a:extLst>
                </a:gridCol>
                <a:gridCol w="985652">
                  <a:extLst>
                    <a:ext uri="{9D8B030D-6E8A-4147-A177-3AD203B41FA5}">
                      <a16:colId xmlns:a16="http://schemas.microsoft.com/office/drawing/2014/main" val="3772756279"/>
                    </a:ext>
                  </a:extLst>
                </a:gridCol>
              </a:tblGrid>
              <a:tr h="370840">
                <a:tc>
                  <a:txBody>
                    <a:bodyPr/>
                    <a:lstStyle/>
                    <a:p>
                      <a:r>
                        <a:rPr lang="en-US" dirty="0"/>
                        <a:t>Model</a:t>
                      </a:r>
                    </a:p>
                  </a:txBody>
                  <a:tcPr/>
                </a:tc>
                <a:tc>
                  <a:txBody>
                    <a:bodyPr/>
                    <a:lstStyle/>
                    <a:p>
                      <a:r>
                        <a:rPr lang="en-US" dirty="0"/>
                        <a:t>Accuracy</a:t>
                      </a:r>
                    </a:p>
                  </a:txBody>
                  <a:tcPr/>
                </a:tc>
                <a:tc>
                  <a:txBody>
                    <a:bodyPr/>
                    <a:lstStyle/>
                    <a:p>
                      <a:r>
                        <a:rPr lang="en-US" dirty="0"/>
                        <a:t>Kappa</a:t>
                      </a:r>
                    </a:p>
                  </a:txBody>
                  <a:tcPr/>
                </a:tc>
                <a:extLst>
                  <a:ext uri="{0D108BD9-81ED-4DB2-BD59-A6C34878D82A}">
                    <a16:rowId xmlns:a16="http://schemas.microsoft.com/office/drawing/2014/main" val="2333446003"/>
                  </a:ext>
                </a:extLst>
              </a:tr>
              <a:tr h="370840">
                <a:tc>
                  <a:txBody>
                    <a:bodyPr/>
                    <a:lstStyle/>
                    <a:p>
                      <a:r>
                        <a:rPr lang="en-US" dirty="0"/>
                        <a:t>Logistic Regression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90.9%</a:t>
                      </a:r>
                    </a:p>
                  </a:txBody>
                  <a:tcPr/>
                </a:tc>
                <a:tc>
                  <a:txBody>
                    <a:bodyPr/>
                    <a:lstStyle/>
                    <a:p>
                      <a:r>
                        <a:rPr lang="en-US" dirty="0"/>
                        <a:t>0.76</a:t>
                      </a:r>
                    </a:p>
                  </a:txBody>
                  <a:tcPr/>
                </a:tc>
                <a:extLst>
                  <a:ext uri="{0D108BD9-81ED-4DB2-BD59-A6C34878D82A}">
                    <a16:rowId xmlns:a16="http://schemas.microsoft.com/office/drawing/2014/main" val="1594868182"/>
                  </a:ext>
                </a:extLst>
              </a:tr>
              <a:tr h="370840">
                <a:tc>
                  <a:txBody>
                    <a:bodyPr/>
                    <a:lstStyle/>
                    <a:p>
                      <a:r>
                        <a:rPr lang="en-US" dirty="0"/>
                        <a:t>LDA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90.9%</a:t>
                      </a:r>
                    </a:p>
                  </a:txBody>
                  <a:tcPr/>
                </a:tc>
                <a:tc>
                  <a:txBody>
                    <a:bodyPr/>
                    <a:lstStyle/>
                    <a:p>
                      <a:r>
                        <a:rPr lang="en-US" dirty="0"/>
                        <a:t>0.76</a:t>
                      </a:r>
                    </a:p>
                  </a:txBody>
                  <a:tcPr/>
                </a:tc>
                <a:extLst>
                  <a:ext uri="{0D108BD9-81ED-4DB2-BD59-A6C34878D82A}">
                    <a16:rowId xmlns:a16="http://schemas.microsoft.com/office/drawing/2014/main" val="961227899"/>
                  </a:ext>
                </a:extLst>
              </a:tr>
              <a:tr h="370840">
                <a:tc>
                  <a:txBody>
                    <a:bodyPr/>
                    <a:lstStyle/>
                    <a:p>
                      <a:r>
                        <a:rPr lang="en-US" dirty="0"/>
                        <a:t>SVM (Radial)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90.9%</a:t>
                      </a:r>
                    </a:p>
                  </a:txBody>
                  <a:tcPr/>
                </a:tc>
                <a:tc>
                  <a:txBody>
                    <a:bodyPr/>
                    <a:lstStyle/>
                    <a:p>
                      <a:r>
                        <a:rPr lang="en-US" dirty="0"/>
                        <a:t>0.76</a:t>
                      </a:r>
                    </a:p>
                  </a:txBody>
                  <a:tcPr/>
                </a:tc>
                <a:extLst>
                  <a:ext uri="{0D108BD9-81ED-4DB2-BD59-A6C34878D82A}">
                    <a16:rowId xmlns:a16="http://schemas.microsoft.com/office/drawing/2014/main" val="3917891079"/>
                  </a:ext>
                </a:extLst>
              </a:tr>
              <a:tr h="370840">
                <a:tc>
                  <a:txBody>
                    <a:bodyPr/>
                    <a:lstStyle/>
                    <a:p>
                      <a:r>
                        <a:rPr lang="en-US" dirty="0"/>
                        <a:t>Baseline</a:t>
                      </a:r>
                    </a:p>
                  </a:txBody>
                  <a:tcPr/>
                </a:tc>
                <a:tc>
                  <a:txBody>
                    <a:bodyPr/>
                    <a:lstStyle/>
                    <a:p>
                      <a:r>
                        <a:rPr lang="en-US" dirty="0"/>
                        <a:t>74.3</a:t>
                      </a:r>
                    </a:p>
                  </a:txBody>
                  <a:tcPr/>
                </a:tc>
                <a:tc>
                  <a:txBody>
                    <a:bodyPr/>
                    <a:lstStyle/>
                    <a:p>
                      <a:r>
                        <a:rPr lang="en-US" dirty="0"/>
                        <a:t>0.00</a:t>
                      </a:r>
                    </a:p>
                  </a:txBody>
                  <a:tcPr/>
                </a:tc>
                <a:extLst>
                  <a:ext uri="{0D108BD9-81ED-4DB2-BD59-A6C34878D82A}">
                    <a16:rowId xmlns:a16="http://schemas.microsoft.com/office/drawing/2014/main" val="3142643563"/>
                  </a:ext>
                </a:extLst>
              </a:tr>
            </a:tbl>
          </a:graphicData>
        </a:graphic>
      </p:graphicFrame>
      <p:graphicFrame>
        <p:nvGraphicFramePr>
          <p:cNvPr id="5" name="Table 4">
            <a:extLst>
              <a:ext uri="{FF2B5EF4-FFF2-40B4-BE49-F238E27FC236}">
                <a16:creationId xmlns:a16="http://schemas.microsoft.com/office/drawing/2014/main" id="{B6C11BDB-8AFD-BAA2-9D19-76297A74252A}"/>
              </a:ext>
            </a:extLst>
          </p:cNvPr>
          <p:cNvGraphicFramePr>
            <a:graphicFrameLocks noGrp="1"/>
          </p:cNvGraphicFramePr>
          <p:nvPr>
            <p:extLst>
              <p:ext uri="{D42A27DB-BD31-4B8C-83A1-F6EECF244321}">
                <p14:modId xmlns:p14="http://schemas.microsoft.com/office/powerpoint/2010/main" val="3536208761"/>
              </p:ext>
            </p:extLst>
          </p:nvPr>
        </p:nvGraphicFramePr>
        <p:xfrm>
          <a:off x="6627752" y="4934100"/>
          <a:ext cx="4368799" cy="1483360"/>
        </p:xfrm>
        <a:graphic>
          <a:graphicData uri="http://schemas.openxmlformats.org/drawingml/2006/table">
            <a:tbl>
              <a:tblPr firstRow="1" bandRow="1">
                <a:tableStyleId>{5C22544A-7EE6-4342-B048-85BDC9FD1C3A}</a:tableStyleId>
              </a:tblPr>
              <a:tblGrid>
                <a:gridCol w="1661225">
                  <a:extLst>
                    <a:ext uri="{9D8B030D-6E8A-4147-A177-3AD203B41FA5}">
                      <a16:colId xmlns:a16="http://schemas.microsoft.com/office/drawing/2014/main" val="726629534"/>
                    </a:ext>
                  </a:extLst>
                </a:gridCol>
                <a:gridCol w="1341911">
                  <a:extLst>
                    <a:ext uri="{9D8B030D-6E8A-4147-A177-3AD203B41FA5}">
                      <a16:colId xmlns:a16="http://schemas.microsoft.com/office/drawing/2014/main" val="1819349827"/>
                    </a:ext>
                  </a:extLst>
                </a:gridCol>
                <a:gridCol w="1365663">
                  <a:extLst>
                    <a:ext uri="{9D8B030D-6E8A-4147-A177-3AD203B41FA5}">
                      <a16:colId xmlns:a16="http://schemas.microsoft.com/office/drawing/2014/main" val="3150063683"/>
                    </a:ext>
                  </a:extLst>
                </a:gridCol>
              </a:tblGrid>
              <a:tr h="370840">
                <a:tc>
                  <a:txBody>
                    <a:bodyPr/>
                    <a:lstStyle/>
                    <a:p>
                      <a:r>
                        <a:rPr lang="en-US" dirty="0"/>
                        <a:t>Class</a:t>
                      </a:r>
                    </a:p>
                  </a:txBody>
                  <a:tcPr/>
                </a:tc>
                <a:tc>
                  <a:txBody>
                    <a:bodyPr/>
                    <a:lstStyle/>
                    <a:p>
                      <a:r>
                        <a:rPr lang="en-US" dirty="0"/>
                        <a:t>Sensitivity</a:t>
                      </a:r>
                    </a:p>
                  </a:txBody>
                  <a:tcPr/>
                </a:tc>
                <a:tc>
                  <a:txBody>
                    <a:bodyPr/>
                    <a:lstStyle/>
                    <a:p>
                      <a:r>
                        <a:rPr lang="en-US" dirty="0"/>
                        <a:t>Prevalence</a:t>
                      </a:r>
                    </a:p>
                  </a:txBody>
                  <a:tcPr/>
                </a:tc>
                <a:extLst>
                  <a:ext uri="{0D108BD9-81ED-4DB2-BD59-A6C34878D82A}">
                    <a16:rowId xmlns:a16="http://schemas.microsoft.com/office/drawing/2014/main" val="1646630076"/>
                  </a:ext>
                </a:extLst>
              </a:tr>
              <a:tr h="370840">
                <a:tc>
                  <a:txBody>
                    <a:bodyPr/>
                    <a:lstStyle/>
                    <a:p>
                      <a:r>
                        <a:rPr lang="en-US" dirty="0" err="1"/>
                        <a:t>CRNA_Only</a:t>
                      </a:r>
                      <a:endParaRPr lang="en-US" dirty="0"/>
                    </a:p>
                  </a:txBody>
                  <a:tcPr/>
                </a:tc>
                <a:tc>
                  <a:txBody>
                    <a:bodyPr/>
                    <a:lstStyle/>
                    <a:p>
                      <a:r>
                        <a:rPr lang="en-US" dirty="0"/>
                        <a:t>96.7%</a:t>
                      </a:r>
                    </a:p>
                  </a:txBody>
                  <a:tcPr/>
                </a:tc>
                <a:tc>
                  <a:txBody>
                    <a:bodyPr/>
                    <a:lstStyle/>
                    <a:p>
                      <a:r>
                        <a:rPr lang="en-US" dirty="0"/>
                        <a:t>74%</a:t>
                      </a:r>
                    </a:p>
                  </a:txBody>
                  <a:tcPr/>
                </a:tc>
                <a:extLst>
                  <a:ext uri="{0D108BD9-81ED-4DB2-BD59-A6C34878D82A}">
                    <a16:rowId xmlns:a16="http://schemas.microsoft.com/office/drawing/2014/main" val="2080880588"/>
                  </a:ext>
                </a:extLst>
              </a:tr>
              <a:tr h="370840">
                <a:tc>
                  <a:txBody>
                    <a:bodyPr/>
                    <a:lstStyle/>
                    <a:p>
                      <a:r>
                        <a:rPr lang="en-US" dirty="0" err="1"/>
                        <a:t>Resident_Only</a:t>
                      </a:r>
                      <a:endParaRPr lang="en-US" dirty="0"/>
                    </a:p>
                  </a:txBody>
                  <a:tcPr/>
                </a:tc>
                <a:tc>
                  <a:txBody>
                    <a:bodyPr/>
                    <a:lstStyle/>
                    <a:p>
                      <a:r>
                        <a:rPr lang="en-US" dirty="0"/>
                        <a:t>84.2%</a:t>
                      </a:r>
                    </a:p>
                  </a:txBody>
                  <a:tcPr/>
                </a:tc>
                <a:tc>
                  <a:txBody>
                    <a:bodyPr/>
                    <a:lstStyle/>
                    <a:p>
                      <a:r>
                        <a:rPr lang="en-US" dirty="0"/>
                        <a:t>23%</a:t>
                      </a:r>
                    </a:p>
                  </a:txBody>
                  <a:tcPr/>
                </a:tc>
                <a:extLst>
                  <a:ext uri="{0D108BD9-81ED-4DB2-BD59-A6C34878D82A}">
                    <a16:rowId xmlns:a16="http://schemas.microsoft.com/office/drawing/2014/main" val="2535186869"/>
                  </a:ext>
                </a:extLst>
              </a:tr>
              <a:tr h="370840">
                <a:tc>
                  <a:txBody>
                    <a:bodyPr/>
                    <a:lstStyle/>
                    <a:p>
                      <a:r>
                        <a:rPr lang="en-US" dirty="0"/>
                        <a:t>Mixed</a:t>
                      </a:r>
                    </a:p>
                  </a:txBody>
                  <a:tcPr/>
                </a:tc>
                <a:tc>
                  <a:txBody>
                    <a:bodyPr/>
                    <a:lstStyle/>
                    <a:p>
                      <a:r>
                        <a:rPr lang="en-US" dirty="0"/>
                        <a:t>0%</a:t>
                      </a:r>
                    </a:p>
                  </a:txBody>
                  <a:tcPr/>
                </a:tc>
                <a:tc>
                  <a:txBody>
                    <a:bodyPr/>
                    <a:lstStyle/>
                    <a:p>
                      <a:r>
                        <a:rPr lang="en-US" dirty="0"/>
                        <a:t>3%</a:t>
                      </a:r>
                    </a:p>
                  </a:txBody>
                  <a:tcPr/>
                </a:tc>
                <a:extLst>
                  <a:ext uri="{0D108BD9-81ED-4DB2-BD59-A6C34878D82A}">
                    <a16:rowId xmlns:a16="http://schemas.microsoft.com/office/drawing/2014/main" val="4279636898"/>
                  </a:ext>
                </a:extLst>
              </a:tr>
            </a:tbl>
          </a:graphicData>
        </a:graphic>
      </p:graphicFrame>
      <p:sp>
        <p:nvSpPr>
          <p:cNvPr id="6" name="TextBox 5">
            <a:extLst>
              <a:ext uri="{FF2B5EF4-FFF2-40B4-BE49-F238E27FC236}">
                <a16:creationId xmlns:a16="http://schemas.microsoft.com/office/drawing/2014/main" id="{4AB42DE0-FA31-E473-760B-A4CF075B778F}"/>
              </a:ext>
            </a:extLst>
          </p:cNvPr>
          <p:cNvSpPr txBox="1"/>
          <p:nvPr/>
        </p:nvSpPr>
        <p:spPr>
          <a:xfrm>
            <a:off x="6592126" y="1944688"/>
            <a:ext cx="3012299" cy="400110"/>
          </a:xfrm>
          <a:prstGeom prst="rect">
            <a:avLst/>
          </a:prstGeom>
          <a:noFill/>
        </p:spPr>
        <p:txBody>
          <a:bodyPr wrap="none" rtlCol="0">
            <a:spAutoFit/>
          </a:bodyPr>
          <a:lstStyle/>
          <a:p>
            <a:r>
              <a:rPr lang="en-US" sz="2000" dirty="0"/>
              <a:t>Model Comparison Table:</a:t>
            </a:r>
          </a:p>
        </p:txBody>
      </p:sp>
      <p:sp>
        <p:nvSpPr>
          <p:cNvPr id="7" name="TextBox 6">
            <a:extLst>
              <a:ext uri="{FF2B5EF4-FFF2-40B4-BE49-F238E27FC236}">
                <a16:creationId xmlns:a16="http://schemas.microsoft.com/office/drawing/2014/main" id="{6B602ADB-5A1C-FD2D-EE3A-5A421D1C1291}"/>
              </a:ext>
            </a:extLst>
          </p:cNvPr>
          <p:cNvSpPr txBox="1"/>
          <p:nvPr/>
        </p:nvSpPr>
        <p:spPr>
          <a:xfrm>
            <a:off x="6592126" y="4533990"/>
            <a:ext cx="2678234" cy="400110"/>
          </a:xfrm>
          <a:prstGeom prst="rect">
            <a:avLst/>
          </a:prstGeom>
          <a:noFill/>
        </p:spPr>
        <p:txBody>
          <a:bodyPr wrap="none" rtlCol="0">
            <a:spAutoFit/>
          </a:bodyPr>
          <a:lstStyle/>
          <a:p>
            <a:r>
              <a:rPr lang="en-US" sz="2000" dirty="0"/>
              <a:t>Performance by Class:</a:t>
            </a:r>
          </a:p>
        </p:txBody>
      </p:sp>
    </p:spTree>
    <p:extLst>
      <p:ext uri="{BB962C8B-B14F-4D97-AF65-F5344CB8AC3E}">
        <p14:creationId xmlns:p14="http://schemas.microsoft.com/office/powerpoint/2010/main" val="129988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0A586-C637-8730-AA65-0CA2FEC772B9}"/>
              </a:ext>
            </a:extLst>
          </p:cNvPr>
          <p:cNvSpPr>
            <a:spLocks noGrp="1"/>
          </p:cNvSpPr>
          <p:nvPr>
            <p:ph type="title"/>
          </p:nvPr>
        </p:nvSpPr>
        <p:spPr/>
        <p:txBody>
          <a:bodyPr/>
          <a:lstStyle/>
          <a:p>
            <a:r>
              <a:rPr lang="en-US" dirty="0"/>
              <a:t>Model 2 – Team Size Preferences</a:t>
            </a:r>
          </a:p>
        </p:txBody>
      </p:sp>
      <p:sp>
        <p:nvSpPr>
          <p:cNvPr id="3" name="Content Placeholder 2">
            <a:extLst>
              <a:ext uri="{FF2B5EF4-FFF2-40B4-BE49-F238E27FC236}">
                <a16:creationId xmlns:a16="http://schemas.microsoft.com/office/drawing/2014/main" id="{A814EE1B-8AB4-16CD-0BC0-AA4EFE54FBF3}"/>
              </a:ext>
            </a:extLst>
          </p:cNvPr>
          <p:cNvSpPr>
            <a:spLocks noGrp="1"/>
          </p:cNvSpPr>
          <p:nvPr>
            <p:ph idx="1"/>
          </p:nvPr>
        </p:nvSpPr>
        <p:spPr>
          <a:xfrm>
            <a:off x="838200" y="1825625"/>
            <a:ext cx="5257800" cy="4351338"/>
          </a:xfrm>
        </p:spPr>
        <p:txBody>
          <a:bodyPr/>
          <a:lstStyle/>
          <a:p>
            <a:r>
              <a:rPr lang="en-US" dirty="0"/>
              <a:t>Key Findings: </a:t>
            </a:r>
          </a:p>
          <a:p>
            <a:pPr lvl="1"/>
            <a:r>
              <a:rPr lang="en-US" dirty="0"/>
              <a:t>Models beat baseline by 21 percentage points </a:t>
            </a:r>
          </a:p>
          <a:p>
            <a:pPr lvl="1"/>
            <a:r>
              <a:rPr lang="en-US" dirty="0"/>
              <a:t>Room count (r=0.76) strongly predicts team size </a:t>
            </a:r>
          </a:p>
          <a:p>
            <a:pPr lvl="1"/>
            <a:r>
              <a:rPr lang="en-US" dirty="0"/>
              <a:t>Historical faculty patterns are strong predictors - Large teams too rare (&lt;1%) to predict</a:t>
            </a:r>
          </a:p>
        </p:txBody>
      </p:sp>
      <p:graphicFrame>
        <p:nvGraphicFramePr>
          <p:cNvPr id="4" name="Table 3">
            <a:extLst>
              <a:ext uri="{FF2B5EF4-FFF2-40B4-BE49-F238E27FC236}">
                <a16:creationId xmlns:a16="http://schemas.microsoft.com/office/drawing/2014/main" id="{FD7F769F-5644-C8EE-B0E3-D2027AF79332}"/>
              </a:ext>
            </a:extLst>
          </p:cNvPr>
          <p:cNvGraphicFramePr>
            <a:graphicFrameLocks noGrp="1"/>
          </p:cNvGraphicFramePr>
          <p:nvPr>
            <p:extLst>
              <p:ext uri="{D42A27DB-BD31-4B8C-83A1-F6EECF244321}">
                <p14:modId xmlns:p14="http://schemas.microsoft.com/office/powerpoint/2010/main" val="1206607191"/>
              </p:ext>
            </p:extLst>
          </p:nvPr>
        </p:nvGraphicFramePr>
        <p:xfrm>
          <a:off x="6856024" y="2443261"/>
          <a:ext cx="4297548" cy="1854200"/>
        </p:xfrm>
        <a:graphic>
          <a:graphicData uri="http://schemas.openxmlformats.org/drawingml/2006/table">
            <a:tbl>
              <a:tblPr firstRow="1" bandRow="1">
                <a:tableStyleId>{5C22544A-7EE6-4342-B048-85BDC9FD1C3A}</a:tableStyleId>
              </a:tblPr>
              <a:tblGrid>
                <a:gridCol w="2171865">
                  <a:extLst>
                    <a:ext uri="{9D8B030D-6E8A-4147-A177-3AD203B41FA5}">
                      <a16:colId xmlns:a16="http://schemas.microsoft.com/office/drawing/2014/main" val="1014770114"/>
                    </a:ext>
                  </a:extLst>
                </a:gridCol>
                <a:gridCol w="1199408">
                  <a:extLst>
                    <a:ext uri="{9D8B030D-6E8A-4147-A177-3AD203B41FA5}">
                      <a16:colId xmlns:a16="http://schemas.microsoft.com/office/drawing/2014/main" val="4073154197"/>
                    </a:ext>
                  </a:extLst>
                </a:gridCol>
                <a:gridCol w="926275">
                  <a:extLst>
                    <a:ext uri="{9D8B030D-6E8A-4147-A177-3AD203B41FA5}">
                      <a16:colId xmlns:a16="http://schemas.microsoft.com/office/drawing/2014/main" val="3709527502"/>
                    </a:ext>
                  </a:extLst>
                </a:gridCol>
              </a:tblGrid>
              <a:tr h="370840">
                <a:tc>
                  <a:txBody>
                    <a:bodyPr/>
                    <a:lstStyle/>
                    <a:p>
                      <a:r>
                        <a:rPr lang="en-US" dirty="0"/>
                        <a:t>Model</a:t>
                      </a:r>
                    </a:p>
                  </a:txBody>
                  <a:tcPr/>
                </a:tc>
                <a:tc>
                  <a:txBody>
                    <a:bodyPr/>
                    <a:lstStyle/>
                    <a:p>
                      <a:r>
                        <a:rPr lang="en-US" dirty="0"/>
                        <a:t>Accuracy</a:t>
                      </a:r>
                    </a:p>
                  </a:txBody>
                  <a:tcPr/>
                </a:tc>
                <a:tc>
                  <a:txBody>
                    <a:bodyPr/>
                    <a:lstStyle/>
                    <a:p>
                      <a:r>
                        <a:rPr lang="en-US" dirty="0"/>
                        <a:t>Kappa</a:t>
                      </a:r>
                    </a:p>
                  </a:txBody>
                  <a:tcPr/>
                </a:tc>
                <a:extLst>
                  <a:ext uri="{0D108BD9-81ED-4DB2-BD59-A6C34878D82A}">
                    <a16:rowId xmlns:a16="http://schemas.microsoft.com/office/drawing/2014/main" val="1551047340"/>
                  </a:ext>
                </a:extLst>
              </a:tr>
              <a:tr h="370840">
                <a:tc>
                  <a:txBody>
                    <a:bodyPr/>
                    <a:lstStyle/>
                    <a:p>
                      <a:r>
                        <a:rPr lang="en-US" dirty="0"/>
                        <a:t>Logistic Regression</a:t>
                      </a:r>
                    </a:p>
                  </a:txBody>
                  <a:tcPr/>
                </a:tc>
                <a:tc>
                  <a:txBody>
                    <a:bodyPr/>
                    <a:lstStyle/>
                    <a:p>
                      <a:r>
                        <a:rPr lang="en-US" dirty="0"/>
                        <a:t>91.9%</a:t>
                      </a:r>
                    </a:p>
                  </a:txBody>
                  <a:tcPr/>
                </a:tc>
                <a:tc>
                  <a:txBody>
                    <a:bodyPr/>
                    <a:lstStyle/>
                    <a:p>
                      <a:r>
                        <a:rPr lang="en-US" dirty="0"/>
                        <a:t>0.80</a:t>
                      </a:r>
                    </a:p>
                  </a:txBody>
                  <a:tcPr/>
                </a:tc>
                <a:extLst>
                  <a:ext uri="{0D108BD9-81ED-4DB2-BD59-A6C34878D82A}">
                    <a16:rowId xmlns:a16="http://schemas.microsoft.com/office/drawing/2014/main" val="786131526"/>
                  </a:ext>
                </a:extLst>
              </a:tr>
              <a:tr h="370840">
                <a:tc>
                  <a:txBody>
                    <a:bodyPr/>
                    <a:lstStyle/>
                    <a:p>
                      <a:r>
                        <a:rPr lang="en-US" dirty="0"/>
                        <a:t>LDA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91.9%</a:t>
                      </a:r>
                    </a:p>
                  </a:txBody>
                  <a:tcPr/>
                </a:tc>
                <a:tc>
                  <a:txBody>
                    <a:bodyPr/>
                    <a:lstStyle/>
                    <a:p>
                      <a:r>
                        <a:rPr lang="en-US" dirty="0"/>
                        <a:t>0.80</a:t>
                      </a:r>
                    </a:p>
                  </a:txBody>
                  <a:tcPr/>
                </a:tc>
                <a:extLst>
                  <a:ext uri="{0D108BD9-81ED-4DB2-BD59-A6C34878D82A}">
                    <a16:rowId xmlns:a16="http://schemas.microsoft.com/office/drawing/2014/main" val="1468907761"/>
                  </a:ext>
                </a:extLst>
              </a:tr>
              <a:tr h="370840">
                <a:tc>
                  <a:txBody>
                    <a:bodyPr/>
                    <a:lstStyle/>
                    <a:p>
                      <a:r>
                        <a:rPr lang="en-US" dirty="0"/>
                        <a:t>SVM (Radial)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91.9%</a:t>
                      </a:r>
                    </a:p>
                  </a:txBody>
                  <a:tcPr/>
                </a:tc>
                <a:tc>
                  <a:txBody>
                    <a:bodyPr/>
                    <a:lstStyle/>
                    <a:p>
                      <a:r>
                        <a:rPr lang="en-US" dirty="0"/>
                        <a:t>0.80</a:t>
                      </a:r>
                    </a:p>
                  </a:txBody>
                  <a:tcPr/>
                </a:tc>
                <a:extLst>
                  <a:ext uri="{0D108BD9-81ED-4DB2-BD59-A6C34878D82A}">
                    <a16:rowId xmlns:a16="http://schemas.microsoft.com/office/drawing/2014/main" val="3396920520"/>
                  </a:ext>
                </a:extLst>
              </a:tr>
              <a:tr h="370840">
                <a:tc>
                  <a:txBody>
                    <a:bodyPr/>
                    <a:lstStyle/>
                    <a:p>
                      <a:r>
                        <a:rPr lang="en-US" dirty="0"/>
                        <a:t>Baseline</a:t>
                      </a:r>
                    </a:p>
                  </a:txBody>
                  <a:tcPr/>
                </a:tc>
                <a:tc>
                  <a:txBody>
                    <a:bodyPr/>
                    <a:lstStyle/>
                    <a:p>
                      <a:r>
                        <a:rPr lang="en-US" dirty="0"/>
                        <a:t>70.8%</a:t>
                      </a:r>
                    </a:p>
                  </a:txBody>
                  <a:tcPr/>
                </a:tc>
                <a:tc>
                  <a:txBody>
                    <a:bodyPr/>
                    <a:lstStyle/>
                    <a:p>
                      <a:r>
                        <a:rPr lang="en-US" dirty="0"/>
                        <a:t>0.00</a:t>
                      </a:r>
                    </a:p>
                  </a:txBody>
                  <a:tcPr/>
                </a:tc>
                <a:extLst>
                  <a:ext uri="{0D108BD9-81ED-4DB2-BD59-A6C34878D82A}">
                    <a16:rowId xmlns:a16="http://schemas.microsoft.com/office/drawing/2014/main" val="3439167559"/>
                  </a:ext>
                </a:extLst>
              </a:tr>
            </a:tbl>
          </a:graphicData>
        </a:graphic>
      </p:graphicFrame>
      <p:graphicFrame>
        <p:nvGraphicFramePr>
          <p:cNvPr id="5" name="Table 4">
            <a:extLst>
              <a:ext uri="{FF2B5EF4-FFF2-40B4-BE49-F238E27FC236}">
                <a16:creationId xmlns:a16="http://schemas.microsoft.com/office/drawing/2014/main" id="{05FB66B6-7CBD-0278-DF2A-6EAECBE0EA5A}"/>
              </a:ext>
            </a:extLst>
          </p:cNvPr>
          <p:cNvGraphicFramePr>
            <a:graphicFrameLocks noGrp="1"/>
          </p:cNvGraphicFramePr>
          <p:nvPr>
            <p:extLst>
              <p:ext uri="{D42A27DB-BD31-4B8C-83A1-F6EECF244321}">
                <p14:modId xmlns:p14="http://schemas.microsoft.com/office/powerpoint/2010/main" val="3295188498"/>
              </p:ext>
            </p:extLst>
          </p:nvPr>
        </p:nvGraphicFramePr>
        <p:xfrm>
          <a:off x="6858336" y="4886453"/>
          <a:ext cx="4295236" cy="1483360"/>
        </p:xfrm>
        <a:graphic>
          <a:graphicData uri="http://schemas.openxmlformats.org/drawingml/2006/table">
            <a:tbl>
              <a:tblPr firstRow="1" bandRow="1">
                <a:tableStyleId>{5C22544A-7EE6-4342-B048-85BDC9FD1C3A}</a:tableStyleId>
              </a:tblPr>
              <a:tblGrid>
                <a:gridCol w="1563912">
                  <a:extLst>
                    <a:ext uri="{9D8B030D-6E8A-4147-A177-3AD203B41FA5}">
                      <a16:colId xmlns:a16="http://schemas.microsoft.com/office/drawing/2014/main" val="3215913526"/>
                    </a:ext>
                  </a:extLst>
                </a:gridCol>
                <a:gridCol w="1306285">
                  <a:extLst>
                    <a:ext uri="{9D8B030D-6E8A-4147-A177-3AD203B41FA5}">
                      <a16:colId xmlns:a16="http://schemas.microsoft.com/office/drawing/2014/main" val="3342120956"/>
                    </a:ext>
                  </a:extLst>
                </a:gridCol>
                <a:gridCol w="1425039">
                  <a:extLst>
                    <a:ext uri="{9D8B030D-6E8A-4147-A177-3AD203B41FA5}">
                      <a16:colId xmlns:a16="http://schemas.microsoft.com/office/drawing/2014/main" val="2810254090"/>
                    </a:ext>
                  </a:extLst>
                </a:gridCol>
              </a:tblGrid>
              <a:tr h="370840">
                <a:tc>
                  <a:txBody>
                    <a:bodyPr/>
                    <a:lstStyle/>
                    <a:p>
                      <a:r>
                        <a:rPr lang="en-US" dirty="0"/>
                        <a:t>Model</a:t>
                      </a:r>
                    </a:p>
                  </a:txBody>
                  <a:tcPr/>
                </a:tc>
                <a:tc>
                  <a:txBody>
                    <a:bodyPr/>
                    <a:lstStyle/>
                    <a:p>
                      <a:r>
                        <a:rPr lang="en-US" dirty="0"/>
                        <a:t>Sensitivity</a:t>
                      </a:r>
                    </a:p>
                  </a:txBody>
                  <a:tcPr/>
                </a:tc>
                <a:tc>
                  <a:txBody>
                    <a:bodyPr/>
                    <a:lstStyle/>
                    <a:p>
                      <a:r>
                        <a:rPr lang="en-US" dirty="0"/>
                        <a:t>Prevalence</a:t>
                      </a:r>
                    </a:p>
                  </a:txBody>
                  <a:tcPr/>
                </a:tc>
                <a:extLst>
                  <a:ext uri="{0D108BD9-81ED-4DB2-BD59-A6C34878D82A}">
                    <a16:rowId xmlns:a16="http://schemas.microsoft.com/office/drawing/2014/main" val="1450967354"/>
                  </a:ext>
                </a:extLst>
              </a:tr>
              <a:tr h="370840">
                <a:tc>
                  <a:txBody>
                    <a:bodyPr/>
                    <a:lstStyle/>
                    <a:p>
                      <a:r>
                        <a:rPr lang="en-US" dirty="0"/>
                        <a:t>Small (1-2)</a:t>
                      </a:r>
                    </a:p>
                  </a:txBody>
                  <a:tcPr/>
                </a:tc>
                <a:tc>
                  <a:txBody>
                    <a:bodyPr/>
                    <a:lstStyle/>
                    <a:p>
                      <a:r>
                        <a:rPr lang="en-US" dirty="0"/>
                        <a:t>82.1%</a:t>
                      </a:r>
                    </a:p>
                  </a:txBody>
                  <a:tcPr/>
                </a:tc>
                <a:tc>
                  <a:txBody>
                    <a:bodyPr/>
                    <a:lstStyle/>
                    <a:p>
                      <a:r>
                        <a:rPr lang="en-US" dirty="0"/>
                        <a:t>28%</a:t>
                      </a:r>
                    </a:p>
                  </a:txBody>
                  <a:tcPr/>
                </a:tc>
                <a:extLst>
                  <a:ext uri="{0D108BD9-81ED-4DB2-BD59-A6C34878D82A}">
                    <a16:rowId xmlns:a16="http://schemas.microsoft.com/office/drawing/2014/main" val="3360735392"/>
                  </a:ext>
                </a:extLst>
              </a:tr>
              <a:tr h="370840">
                <a:tc>
                  <a:txBody>
                    <a:bodyPr/>
                    <a:lstStyle/>
                    <a:p>
                      <a:r>
                        <a:rPr lang="en-US" dirty="0"/>
                        <a:t>Medium (3-4)</a:t>
                      </a:r>
                    </a:p>
                  </a:txBody>
                  <a:tcPr/>
                </a:tc>
                <a:tc>
                  <a:txBody>
                    <a:bodyPr/>
                    <a:lstStyle/>
                    <a:p>
                      <a:r>
                        <a:rPr lang="en-US" dirty="0"/>
                        <a:t>96.8%</a:t>
                      </a:r>
                    </a:p>
                  </a:txBody>
                  <a:tcPr/>
                </a:tc>
                <a:tc>
                  <a:txBody>
                    <a:bodyPr/>
                    <a:lstStyle/>
                    <a:p>
                      <a:r>
                        <a:rPr lang="en-US" dirty="0"/>
                        <a:t>71%</a:t>
                      </a:r>
                    </a:p>
                  </a:txBody>
                  <a:tcPr/>
                </a:tc>
                <a:extLst>
                  <a:ext uri="{0D108BD9-81ED-4DB2-BD59-A6C34878D82A}">
                    <a16:rowId xmlns:a16="http://schemas.microsoft.com/office/drawing/2014/main" val="363288289"/>
                  </a:ext>
                </a:extLst>
              </a:tr>
              <a:tr h="370840">
                <a:tc>
                  <a:txBody>
                    <a:bodyPr/>
                    <a:lstStyle/>
                    <a:p>
                      <a:r>
                        <a:rPr lang="en-US" dirty="0"/>
                        <a:t>Large (5+)</a:t>
                      </a:r>
                    </a:p>
                  </a:txBody>
                  <a:tcPr/>
                </a:tc>
                <a:tc>
                  <a:txBody>
                    <a:bodyPr/>
                    <a:lstStyle/>
                    <a:p>
                      <a:r>
                        <a:rPr lang="en-US" dirty="0"/>
                        <a:t>0%</a:t>
                      </a:r>
                    </a:p>
                  </a:txBody>
                  <a:tcPr/>
                </a:tc>
                <a:tc>
                  <a:txBody>
                    <a:bodyPr/>
                    <a:lstStyle/>
                    <a:p>
                      <a:r>
                        <a:rPr lang="en-US" dirty="0"/>
                        <a:t>&lt;1%</a:t>
                      </a:r>
                    </a:p>
                  </a:txBody>
                  <a:tcPr/>
                </a:tc>
                <a:extLst>
                  <a:ext uri="{0D108BD9-81ED-4DB2-BD59-A6C34878D82A}">
                    <a16:rowId xmlns:a16="http://schemas.microsoft.com/office/drawing/2014/main" val="825584537"/>
                  </a:ext>
                </a:extLst>
              </a:tr>
            </a:tbl>
          </a:graphicData>
        </a:graphic>
      </p:graphicFrame>
      <p:sp>
        <p:nvSpPr>
          <p:cNvPr id="6" name="TextBox 5">
            <a:extLst>
              <a:ext uri="{FF2B5EF4-FFF2-40B4-BE49-F238E27FC236}">
                <a16:creationId xmlns:a16="http://schemas.microsoft.com/office/drawing/2014/main" id="{EB494290-8EB9-277B-EFA3-4AA8D5DD7CCD}"/>
              </a:ext>
            </a:extLst>
          </p:cNvPr>
          <p:cNvSpPr txBox="1"/>
          <p:nvPr/>
        </p:nvSpPr>
        <p:spPr>
          <a:xfrm>
            <a:off x="6856024" y="2016125"/>
            <a:ext cx="3012299" cy="400110"/>
          </a:xfrm>
          <a:prstGeom prst="rect">
            <a:avLst/>
          </a:prstGeom>
          <a:noFill/>
        </p:spPr>
        <p:txBody>
          <a:bodyPr wrap="none" rtlCol="0">
            <a:spAutoFit/>
          </a:bodyPr>
          <a:lstStyle/>
          <a:p>
            <a:r>
              <a:rPr lang="en-US" sz="2000" dirty="0"/>
              <a:t>Model Comparison Table:</a:t>
            </a:r>
          </a:p>
        </p:txBody>
      </p:sp>
      <p:sp>
        <p:nvSpPr>
          <p:cNvPr id="7" name="TextBox 6">
            <a:extLst>
              <a:ext uri="{FF2B5EF4-FFF2-40B4-BE49-F238E27FC236}">
                <a16:creationId xmlns:a16="http://schemas.microsoft.com/office/drawing/2014/main" id="{7D520E32-6E22-8796-8CED-ACB051295A21}"/>
              </a:ext>
            </a:extLst>
          </p:cNvPr>
          <p:cNvSpPr txBox="1"/>
          <p:nvPr/>
        </p:nvSpPr>
        <p:spPr>
          <a:xfrm>
            <a:off x="6856024" y="4486343"/>
            <a:ext cx="2678234" cy="400110"/>
          </a:xfrm>
          <a:prstGeom prst="rect">
            <a:avLst/>
          </a:prstGeom>
          <a:noFill/>
        </p:spPr>
        <p:txBody>
          <a:bodyPr wrap="none" rtlCol="0">
            <a:spAutoFit/>
          </a:bodyPr>
          <a:lstStyle/>
          <a:p>
            <a:r>
              <a:rPr lang="en-US" sz="2000" dirty="0"/>
              <a:t>Performance by Class:</a:t>
            </a:r>
          </a:p>
        </p:txBody>
      </p:sp>
    </p:spTree>
    <p:extLst>
      <p:ext uri="{BB962C8B-B14F-4D97-AF65-F5344CB8AC3E}">
        <p14:creationId xmlns:p14="http://schemas.microsoft.com/office/powerpoint/2010/main" val="3282535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F8160-2FC3-BEDA-4D99-F874654EF173}"/>
              </a:ext>
            </a:extLst>
          </p:cNvPr>
          <p:cNvSpPr>
            <a:spLocks noGrp="1"/>
          </p:cNvSpPr>
          <p:nvPr>
            <p:ph type="title"/>
          </p:nvPr>
        </p:nvSpPr>
        <p:spPr/>
        <p:txBody>
          <a:bodyPr/>
          <a:lstStyle/>
          <a:p>
            <a:r>
              <a:rPr lang="en-US" dirty="0"/>
              <a:t>Model 3 – Specific CRNA Preference</a:t>
            </a:r>
          </a:p>
        </p:txBody>
      </p:sp>
      <p:sp>
        <p:nvSpPr>
          <p:cNvPr id="3" name="Content Placeholder 2">
            <a:extLst>
              <a:ext uri="{FF2B5EF4-FFF2-40B4-BE49-F238E27FC236}">
                <a16:creationId xmlns:a16="http://schemas.microsoft.com/office/drawing/2014/main" id="{0CAC396C-602A-980F-AD6B-91D7315E9E9D}"/>
              </a:ext>
            </a:extLst>
          </p:cNvPr>
          <p:cNvSpPr>
            <a:spLocks noGrp="1"/>
          </p:cNvSpPr>
          <p:nvPr>
            <p:ph idx="1"/>
          </p:nvPr>
        </p:nvSpPr>
        <p:spPr>
          <a:xfrm>
            <a:off x="838200" y="1825625"/>
            <a:ext cx="5690120" cy="4351338"/>
          </a:xfrm>
        </p:spPr>
        <p:txBody>
          <a:bodyPr>
            <a:normAutofit/>
          </a:bodyPr>
          <a:lstStyle/>
          <a:p>
            <a:r>
              <a:rPr lang="en-US" dirty="0"/>
              <a:t>The Challenge: Extreme Class Imbalance </a:t>
            </a:r>
          </a:p>
          <a:p>
            <a:pPr lvl="1"/>
            <a:r>
              <a:rPr lang="en-US" dirty="0"/>
              <a:t>Each CRNA works with any given faculty only 4-6% of shifts</a:t>
            </a:r>
          </a:p>
          <a:p>
            <a:pPr lvl="2"/>
            <a:r>
              <a:rPr lang="en-US" dirty="0"/>
              <a:t>A model predicting "no pairing" every time achieves 95%+ accuracy</a:t>
            </a:r>
          </a:p>
          <a:p>
            <a:r>
              <a:rPr lang="en-US" dirty="0"/>
              <a:t>What Made It Work: </a:t>
            </a:r>
          </a:p>
          <a:p>
            <a:pPr lvl="1"/>
            <a:r>
              <a:rPr lang="en-US" dirty="0"/>
              <a:t>1. Class Weights - Penalize missing TRUE cases more heavily </a:t>
            </a:r>
          </a:p>
          <a:p>
            <a:pPr lvl="1"/>
            <a:r>
              <a:rPr lang="en-US" dirty="0"/>
              <a:t>2. Random Split - Ensures all faculty in train &amp; test sets</a:t>
            </a:r>
          </a:p>
        </p:txBody>
      </p:sp>
      <p:graphicFrame>
        <p:nvGraphicFramePr>
          <p:cNvPr id="4" name="Table 3">
            <a:extLst>
              <a:ext uri="{FF2B5EF4-FFF2-40B4-BE49-F238E27FC236}">
                <a16:creationId xmlns:a16="http://schemas.microsoft.com/office/drawing/2014/main" id="{168BB8C5-1B12-FAFE-5EDB-359D1E61BAC7}"/>
              </a:ext>
            </a:extLst>
          </p:cNvPr>
          <p:cNvGraphicFramePr>
            <a:graphicFrameLocks noGrp="1"/>
          </p:cNvGraphicFramePr>
          <p:nvPr>
            <p:extLst>
              <p:ext uri="{D42A27DB-BD31-4B8C-83A1-F6EECF244321}">
                <p14:modId xmlns:p14="http://schemas.microsoft.com/office/powerpoint/2010/main" val="3277522204"/>
              </p:ext>
            </p:extLst>
          </p:nvPr>
        </p:nvGraphicFramePr>
        <p:xfrm>
          <a:off x="6735883" y="2671786"/>
          <a:ext cx="4825480" cy="1483360"/>
        </p:xfrm>
        <a:graphic>
          <a:graphicData uri="http://schemas.openxmlformats.org/drawingml/2006/table">
            <a:tbl>
              <a:tblPr firstRow="1" bandRow="1">
                <a:tableStyleId>{5C22544A-7EE6-4342-B048-85BDC9FD1C3A}</a:tableStyleId>
              </a:tblPr>
              <a:tblGrid>
                <a:gridCol w="2129781">
                  <a:extLst>
                    <a:ext uri="{9D8B030D-6E8A-4147-A177-3AD203B41FA5}">
                      <a16:colId xmlns:a16="http://schemas.microsoft.com/office/drawing/2014/main" val="2196677873"/>
                    </a:ext>
                  </a:extLst>
                </a:gridCol>
                <a:gridCol w="1353787">
                  <a:extLst>
                    <a:ext uri="{9D8B030D-6E8A-4147-A177-3AD203B41FA5}">
                      <a16:colId xmlns:a16="http://schemas.microsoft.com/office/drawing/2014/main" val="3163327773"/>
                    </a:ext>
                  </a:extLst>
                </a:gridCol>
                <a:gridCol w="1341912">
                  <a:extLst>
                    <a:ext uri="{9D8B030D-6E8A-4147-A177-3AD203B41FA5}">
                      <a16:colId xmlns:a16="http://schemas.microsoft.com/office/drawing/2014/main" val="3199390240"/>
                    </a:ext>
                  </a:extLst>
                </a:gridCol>
              </a:tblGrid>
              <a:tr h="370840">
                <a:tc>
                  <a:txBody>
                    <a:bodyPr/>
                    <a:lstStyle/>
                    <a:p>
                      <a:r>
                        <a:rPr lang="en-US" dirty="0"/>
                        <a:t>Model</a:t>
                      </a:r>
                    </a:p>
                  </a:txBody>
                  <a:tcPr/>
                </a:tc>
                <a:tc>
                  <a:txBody>
                    <a:bodyPr/>
                    <a:lstStyle/>
                    <a:p>
                      <a:r>
                        <a:rPr lang="en-US" dirty="0"/>
                        <a:t>Accuracy</a:t>
                      </a:r>
                    </a:p>
                  </a:txBody>
                  <a:tcPr/>
                </a:tc>
                <a:tc>
                  <a:txBody>
                    <a:bodyPr/>
                    <a:lstStyle/>
                    <a:p>
                      <a:r>
                        <a:rPr lang="en-US" dirty="0"/>
                        <a:t>Sensitivity</a:t>
                      </a:r>
                    </a:p>
                  </a:txBody>
                  <a:tcPr/>
                </a:tc>
                <a:extLst>
                  <a:ext uri="{0D108BD9-81ED-4DB2-BD59-A6C34878D82A}">
                    <a16:rowId xmlns:a16="http://schemas.microsoft.com/office/drawing/2014/main" val="1515405286"/>
                  </a:ext>
                </a:extLst>
              </a:tr>
              <a:tr h="370840">
                <a:tc>
                  <a:txBody>
                    <a:bodyPr/>
                    <a:lstStyle/>
                    <a:p>
                      <a:r>
                        <a:rPr lang="en-US" dirty="0"/>
                        <a:t>Logistic Regression</a:t>
                      </a:r>
                    </a:p>
                  </a:txBody>
                  <a:tcPr/>
                </a:tc>
                <a:tc>
                  <a:txBody>
                    <a:bodyPr/>
                    <a:lstStyle/>
                    <a:p>
                      <a:r>
                        <a:rPr lang="en-US" dirty="0"/>
                        <a:t>95.3%</a:t>
                      </a:r>
                    </a:p>
                  </a:txBody>
                  <a:tcPr/>
                </a:tc>
                <a:tc>
                  <a:txBody>
                    <a:bodyPr/>
                    <a:lstStyle/>
                    <a:p>
                      <a:r>
                        <a:rPr lang="en-US" dirty="0"/>
                        <a:t>0%</a:t>
                      </a:r>
                    </a:p>
                  </a:txBody>
                  <a:tcPr/>
                </a:tc>
                <a:extLst>
                  <a:ext uri="{0D108BD9-81ED-4DB2-BD59-A6C34878D82A}">
                    <a16:rowId xmlns:a16="http://schemas.microsoft.com/office/drawing/2014/main" val="826091138"/>
                  </a:ext>
                </a:extLst>
              </a:tr>
              <a:tr h="370840">
                <a:tc>
                  <a:txBody>
                    <a:bodyPr/>
                    <a:lstStyle/>
                    <a:p>
                      <a:r>
                        <a:rPr lang="en-US" dirty="0"/>
                        <a:t>SVM</a:t>
                      </a:r>
                    </a:p>
                  </a:txBody>
                  <a:tcPr/>
                </a:tc>
                <a:tc>
                  <a:txBody>
                    <a:bodyPr/>
                    <a:lstStyle/>
                    <a:p>
                      <a:r>
                        <a:rPr lang="en-US" dirty="0"/>
                        <a:t>95.3</a:t>
                      </a:r>
                    </a:p>
                  </a:txBody>
                  <a:tcPr/>
                </a:tc>
                <a:tc>
                  <a:txBody>
                    <a:bodyPr/>
                    <a:lstStyle/>
                    <a:p>
                      <a:r>
                        <a:rPr lang="en-US" dirty="0"/>
                        <a:t>0%</a:t>
                      </a:r>
                    </a:p>
                  </a:txBody>
                  <a:tcPr/>
                </a:tc>
                <a:extLst>
                  <a:ext uri="{0D108BD9-81ED-4DB2-BD59-A6C34878D82A}">
                    <a16:rowId xmlns:a16="http://schemas.microsoft.com/office/drawing/2014/main" val="214044924"/>
                  </a:ext>
                </a:extLst>
              </a:tr>
              <a:tr h="370840">
                <a:tc>
                  <a:txBody>
                    <a:bodyPr/>
                    <a:lstStyle/>
                    <a:p>
                      <a:r>
                        <a:rPr lang="en-US" dirty="0"/>
                        <a:t>Baseline</a:t>
                      </a:r>
                    </a:p>
                  </a:txBody>
                  <a:tcPr/>
                </a:tc>
                <a:tc>
                  <a:txBody>
                    <a:bodyPr/>
                    <a:lstStyle/>
                    <a:p>
                      <a:r>
                        <a:rPr lang="en-US" dirty="0"/>
                        <a:t>95.9</a:t>
                      </a:r>
                    </a:p>
                  </a:txBody>
                  <a:tcPr/>
                </a:tc>
                <a:tc>
                  <a:txBody>
                    <a:bodyPr/>
                    <a:lstStyle/>
                    <a:p>
                      <a:r>
                        <a:rPr lang="en-US" dirty="0"/>
                        <a:t>0%</a:t>
                      </a:r>
                    </a:p>
                  </a:txBody>
                  <a:tcPr/>
                </a:tc>
                <a:extLst>
                  <a:ext uri="{0D108BD9-81ED-4DB2-BD59-A6C34878D82A}">
                    <a16:rowId xmlns:a16="http://schemas.microsoft.com/office/drawing/2014/main" val="1378905863"/>
                  </a:ext>
                </a:extLst>
              </a:tr>
            </a:tbl>
          </a:graphicData>
        </a:graphic>
      </p:graphicFrame>
      <p:graphicFrame>
        <p:nvGraphicFramePr>
          <p:cNvPr id="5" name="Table 4">
            <a:extLst>
              <a:ext uri="{FF2B5EF4-FFF2-40B4-BE49-F238E27FC236}">
                <a16:creationId xmlns:a16="http://schemas.microsoft.com/office/drawing/2014/main" id="{78AD26C9-FCC3-767A-D56D-432C765FEFA4}"/>
              </a:ext>
            </a:extLst>
          </p:cNvPr>
          <p:cNvGraphicFramePr>
            <a:graphicFrameLocks noGrp="1"/>
          </p:cNvGraphicFramePr>
          <p:nvPr>
            <p:extLst>
              <p:ext uri="{D42A27DB-BD31-4B8C-83A1-F6EECF244321}">
                <p14:modId xmlns:p14="http://schemas.microsoft.com/office/powerpoint/2010/main" val="976718612"/>
              </p:ext>
            </p:extLst>
          </p:nvPr>
        </p:nvGraphicFramePr>
        <p:xfrm>
          <a:off x="6735883" y="4734749"/>
          <a:ext cx="4874925" cy="1112520"/>
        </p:xfrm>
        <a:graphic>
          <a:graphicData uri="http://schemas.openxmlformats.org/drawingml/2006/table">
            <a:tbl>
              <a:tblPr firstRow="1" bandRow="1">
                <a:tableStyleId>{5C22544A-7EE6-4342-B048-85BDC9FD1C3A}</a:tableStyleId>
              </a:tblPr>
              <a:tblGrid>
                <a:gridCol w="2012902">
                  <a:extLst>
                    <a:ext uri="{9D8B030D-6E8A-4147-A177-3AD203B41FA5}">
                      <a16:colId xmlns:a16="http://schemas.microsoft.com/office/drawing/2014/main" val="2248774721"/>
                    </a:ext>
                  </a:extLst>
                </a:gridCol>
                <a:gridCol w="1341911">
                  <a:extLst>
                    <a:ext uri="{9D8B030D-6E8A-4147-A177-3AD203B41FA5}">
                      <a16:colId xmlns:a16="http://schemas.microsoft.com/office/drawing/2014/main" val="1593364583"/>
                    </a:ext>
                  </a:extLst>
                </a:gridCol>
                <a:gridCol w="1520112">
                  <a:extLst>
                    <a:ext uri="{9D8B030D-6E8A-4147-A177-3AD203B41FA5}">
                      <a16:colId xmlns:a16="http://schemas.microsoft.com/office/drawing/2014/main" val="4014204638"/>
                    </a:ext>
                  </a:extLst>
                </a:gridCol>
              </a:tblGrid>
              <a:tr h="370840">
                <a:tc>
                  <a:txBody>
                    <a:bodyPr/>
                    <a:lstStyle/>
                    <a:p>
                      <a:r>
                        <a:rPr lang="en-US" dirty="0"/>
                        <a:t>Model</a:t>
                      </a:r>
                    </a:p>
                  </a:txBody>
                  <a:tcPr/>
                </a:tc>
                <a:tc>
                  <a:txBody>
                    <a:bodyPr/>
                    <a:lstStyle/>
                    <a:p>
                      <a:r>
                        <a:rPr lang="en-US" dirty="0"/>
                        <a:t>Accuracy</a:t>
                      </a:r>
                    </a:p>
                  </a:txBody>
                  <a:tcPr/>
                </a:tc>
                <a:tc>
                  <a:txBody>
                    <a:bodyPr/>
                    <a:lstStyle/>
                    <a:p>
                      <a:r>
                        <a:rPr lang="en-US" dirty="0"/>
                        <a:t>Sensitivity</a:t>
                      </a:r>
                    </a:p>
                  </a:txBody>
                  <a:tcPr/>
                </a:tc>
                <a:extLst>
                  <a:ext uri="{0D108BD9-81ED-4DB2-BD59-A6C34878D82A}">
                    <a16:rowId xmlns:a16="http://schemas.microsoft.com/office/drawing/2014/main" val="3645639815"/>
                  </a:ext>
                </a:extLst>
              </a:tr>
              <a:tr h="370840">
                <a:tc>
                  <a:txBody>
                    <a:bodyPr/>
                    <a:lstStyle/>
                    <a:p>
                      <a:r>
                        <a:rPr lang="en-US" dirty="0"/>
                        <a:t>Ridge + Weights</a:t>
                      </a:r>
                    </a:p>
                  </a:txBody>
                  <a:tcPr/>
                </a:tc>
                <a:tc>
                  <a:txBody>
                    <a:bodyPr/>
                    <a:lstStyle/>
                    <a:p>
                      <a:r>
                        <a:rPr lang="en-US" dirty="0"/>
                        <a:t>39.9%</a:t>
                      </a:r>
                    </a:p>
                  </a:txBody>
                  <a:tcPr/>
                </a:tc>
                <a:tc>
                  <a:txBody>
                    <a:bodyPr/>
                    <a:lstStyle/>
                    <a:p>
                      <a:r>
                        <a:rPr lang="en-US" dirty="0"/>
                        <a:t>82.7%</a:t>
                      </a:r>
                    </a:p>
                  </a:txBody>
                  <a:tcPr/>
                </a:tc>
                <a:extLst>
                  <a:ext uri="{0D108BD9-81ED-4DB2-BD59-A6C34878D82A}">
                    <a16:rowId xmlns:a16="http://schemas.microsoft.com/office/drawing/2014/main" val="1642683181"/>
                  </a:ext>
                </a:extLst>
              </a:tr>
              <a:tr h="370840">
                <a:tc>
                  <a:txBody>
                    <a:bodyPr/>
                    <a:lstStyle/>
                    <a:p>
                      <a:r>
                        <a:rPr lang="en-US" dirty="0"/>
                        <a:t>SVM + Weights</a:t>
                      </a:r>
                    </a:p>
                  </a:txBody>
                  <a:tcPr/>
                </a:tc>
                <a:tc>
                  <a:txBody>
                    <a:bodyPr/>
                    <a:lstStyle/>
                    <a:p>
                      <a:r>
                        <a:rPr lang="en-US" dirty="0"/>
                        <a:t>67.5%</a:t>
                      </a:r>
                    </a:p>
                  </a:txBody>
                  <a:tcPr/>
                </a:tc>
                <a:tc>
                  <a:txBody>
                    <a:bodyPr/>
                    <a:lstStyle/>
                    <a:p>
                      <a:r>
                        <a:rPr lang="en-US" dirty="0"/>
                        <a:t>61.2%</a:t>
                      </a:r>
                    </a:p>
                  </a:txBody>
                  <a:tcPr/>
                </a:tc>
                <a:extLst>
                  <a:ext uri="{0D108BD9-81ED-4DB2-BD59-A6C34878D82A}">
                    <a16:rowId xmlns:a16="http://schemas.microsoft.com/office/drawing/2014/main" val="2913100352"/>
                  </a:ext>
                </a:extLst>
              </a:tr>
            </a:tbl>
          </a:graphicData>
        </a:graphic>
      </p:graphicFrame>
      <p:sp>
        <p:nvSpPr>
          <p:cNvPr id="6" name="TextBox 5">
            <a:extLst>
              <a:ext uri="{FF2B5EF4-FFF2-40B4-BE49-F238E27FC236}">
                <a16:creationId xmlns:a16="http://schemas.microsoft.com/office/drawing/2014/main" id="{0445DCB6-E810-A42B-C9DF-4E1B585B46A1}"/>
              </a:ext>
            </a:extLst>
          </p:cNvPr>
          <p:cNvSpPr txBox="1"/>
          <p:nvPr/>
        </p:nvSpPr>
        <p:spPr>
          <a:xfrm>
            <a:off x="6735883" y="2224088"/>
            <a:ext cx="2882264" cy="400110"/>
          </a:xfrm>
          <a:prstGeom prst="rect">
            <a:avLst/>
          </a:prstGeom>
          <a:noFill/>
        </p:spPr>
        <p:txBody>
          <a:bodyPr wrap="none" rtlCol="0">
            <a:spAutoFit/>
          </a:bodyPr>
          <a:lstStyle/>
          <a:p>
            <a:r>
              <a:rPr lang="en-US" sz="2000" dirty="0"/>
              <a:t>Initial Approach (Failed):</a:t>
            </a:r>
          </a:p>
        </p:txBody>
      </p:sp>
      <p:sp>
        <p:nvSpPr>
          <p:cNvPr id="7" name="TextBox 6">
            <a:extLst>
              <a:ext uri="{FF2B5EF4-FFF2-40B4-BE49-F238E27FC236}">
                <a16:creationId xmlns:a16="http://schemas.microsoft.com/office/drawing/2014/main" id="{A84BA21C-54CE-ADC3-D84D-D8C4D276761B}"/>
              </a:ext>
            </a:extLst>
          </p:cNvPr>
          <p:cNvSpPr txBox="1"/>
          <p:nvPr/>
        </p:nvSpPr>
        <p:spPr>
          <a:xfrm>
            <a:off x="6735883" y="4334639"/>
            <a:ext cx="3575787" cy="400110"/>
          </a:xfrm>
          <a:prstGeom prst="rect">
            <a:avLst/>
          </a:prstGeom>
          <a:noFill/>
        </p:spPr>
        <p:txBody>
          <a:bodyPr wrap="none" rtlCol="0">
            <a:spAutoFit/>
          </a:bodyPr>
          <a:lstStyle/>
          <a:p>
            <a:r>
              <a:rPr lang="en-US" sz="2000" dirty="0"/>
              <a:t>Improved Approach (Success):</a:t>
            </a:r>
          </a:p>
        </p:txBody>
      </p:sp>
    </p:spTree>
    <p:extLst>
      <p:ext uri="{BB962C8B-B14F-4D97-AF65-F5344CB8AC3E}">
        <p14:creationId xmlns:p14="http://schemas.microsoft.com/office/powerpoint/2010/main" val="1043868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E234B-23CE-3A89-E7C2-CC29AB7FF74C}"/>
              </a:ext>
            </a:extLst>
          </p:cNvPr>
          <p:cNvSpPr>
            <a:spLocks noGrp="1"/>
          </p:cNvSpPr>
          <p:nvPr>
            <p:ph type="title"/>
          </p:nvPr>
        </p:nvSpPr>
        <p:spPr/>
        <p:txBody>
          <a:bodyPr/>
          <a:lstStyle/>
          <a:p>
            <a:r>
              <a:rPr lang="en-US" dirty="0"/>
              <a:t>Model 3 – Example Predictions (CRNA27)</a:t>
            </a:r>
          </a:p>
        </p:txBody>
      </p:sp>
      <p:graphicFrame>
        <p:nvGraphicFramePr>
          <p:cNvPr id="4" name="Table 3">
            <a:extLst>
              <a:ext uri="{FF2B5EF4-FFF2-40B4-BE49-F238E27FC236}">
                <a16:creationId xmlns:a16="http://schemas.microsoft.com/office/drawing/2014/main" id="{1A8AF082-33EB-9BCC-7F79-5000174AF94F}"/>
              </a:ext>
            </a:extLst>
          </p:cNvPr>
          <p:cNvGraphicFramePr>
            <a:graphicFrameLocks noGrp="1"/>
          </p:cNvGraphicFramePr>
          <p:nvPr>
            <p:extLst>
              <p:ext uri="{D42A27DB-BD31-4B8C-83A1-F6EECF244321}">
                <p14:modId xmlns:p14="http://schemas.microsoft.com/office/powerpoint/2010/main" val="3700700913"/>
              </p:ext>
            </p:extLst>
          </p:nvPr>
        </p:nvGraphicFramePr>
        <p:xfrm>
          <a:off x="6349529" y="3156957"/>
          <a:ext cx="5160489" cy="1412688"/>
        </p:xfrm>
        <a:graphic>
          <a:graphicData uri="http://schemas.openxmlformats.org/drawingml/2006/table">
            <a:tbl>
              <a:tblPr firstRow="1" bandRow="1">
                <a:tableStyleId>{5C22544A-7EE6-4342-B048-85BDC9FD1C3A}</a:tableStyleId>
              </a:tblPr>
              <a:tblGrid>
                <a:gridCol w="1720163">
                  <a:extLst>
                    <a:ext uri="{9D8B030D-6E8A-4147-A177-3AD203B41FA5}">
                      <a16:colId xmlns:a16="http://schemas.microsoft.com/office/drawing/2014/main" val="3096453440"/>
                    </a:ext>
                  </a:extLst>
                </a:gridCol>
                <a:gridCol w="1720163">
                  <a:extLst>
                    <a:ext uri="{9D8B030D-6E8A-4147-A177-3AD203B41FA5}">
                      <a16:colId xmlns:a16="http://schemas.microsoft.com/office/drawing/2014/main" val="1121117945"/>
                    </a:ext>
                  </a:extLst>
                </a:gridCol>
                <a:gridCol w="1720163">
                  <a:extLst>
                    <a:ext uri="{9D8B030D-6E8A-4147-A177-3AD203B41FA5}">
                      <a16:colId xmlns:a16="http://schemas.microsoft.com/office/drawing/2014/main" val="929553762"/>
                    </a:ext>
                  </a:extLst>
                </a:gridCol>
              </a:tblGrid>
              <a:tr h="235448">
                <a:tc>
                  <a:txBody>
                    <a:bodyPr/>
                    <a:lstStyle/>
                    <a:p>
                      <a:r>
                        <a:rPr lang="en-US" sz="1100" dirty="0"/>
                        <a:t>Faculty</a:t>
                      </a:r>
                    </a:p>
                  </a:txBody>
                  <a:tcPr marL="58056" marR="58056" marT="29028" marB="29028"/>
                </a:tc>
                <a:tc>
                  <a:txBody>
                    <a:bodyPr/>
                    <a:lstStyle/>
                    <a:p>
                      <a:r>
                        <a:rPr lang="en-US" sz="1100" dirty="0"/>
                        <a:t>Actual %</a:t>
                      </a:r>
                    </a:p>
                  </a:txBody>
                  <a:tcPr marL="58056" marR="58056" marT="29028" marB="29028"/>
                </a:tc>
                <a:tc>
                  <a:txBody>
                    <a:bodyPr/>
                    <a:lstStyle/>
                    <a:p>
                      <a:r>
                        <a:rPr lang="en-US" sz="1100" dirty="0"/>
                        <a:t>Model Probability</a:t>
                      </a:r>
                    </a:p>
                  </a:txBody>
                  <a:tcPr marL="58056" marR="58056" marT="29028" marB="29028"/>
                </a:tc>
                <a:extLst>
                  <a:ext uri="{0D108BD9-81ED-4DB2-BD59-A6C34878D82A}">
                    <a16:rowId xmlns:a16="http://schemas.microsoft.com/office/drawing/2014/main" val="2937265993"/>
                  </a:ext>
                </a:extLst>
              </a:tr>
              <a:tr h="235448">
                <a:tc>
                  <a:txBody>
                    <a:bodyPr/>
                    <a:lstStyle/>
                    <a:p>
                      <a:r>
                        <a:rPr lang="en-US" sz="1100" dirty="0" err="1"/>
                        <a:t>FacultyN</a:t>
                      </a:r>
                      <a:endParaRPr lang="en-US" sz="1100" dirty="0"/>
                    </a:p>
                  </a:txBody>
                  <a:tcPr marL="58056" marR="58056" marT="29028" marB="29028"/>
                </a:tc>
                <a:tc>
                  <a:txBody>
                    <a:bodyPr/>
                    <a:lstStyle/>
                    <a:p>
                      <a:r>
                        <a:rPr lang="en-US" sz="1100" dirty="0"/>
                        <a:t>28.6%</a:t>
                      </a:r>
                    </a:p>
                  </a:txBody>
                  <a:tcPr marL="58056" marR="58056" marT="29028" marB="29028"/>
                </a:tc>
                <a:tc>
                  <a:txBody>
                    <a:bodyPr/>
                    <a:lstStyle/>
                    <a:p>
                      <a:r>
                        <a:rPr lang="en-US" sz="1100" dirty="0"/>
                        <a:t>60.1%</a:t>
                      </a:r>
                    </a:p>
                  </a:txBody>
                  <a:tcPr marL="58056" marR="58056" marT="29028" marB="29028"/>
                </a:tc>
                <a:extLst>
                  <a:ext uri="{0D108BD9-81ED-4DB2-BD59-A6C34878D82A}">
                    <a16:rowId xmlns:a16="http://schemas.microsoft.com/office/drawing/2014/main" val="1311490911"/>
                  </a:ext>
                </a:extLst>
              </a:tr>
              <a:tr h="235448">
                <a:tc>
                  <a:txBody>
                    <a:bodyPr/>
                    <a:lstStyle/>
                    <a:p>
                      <a:r>
                        <a:rPr lang="en-US" sz="1100" dirty="0" err="1"/>
                        <a:t>FacultyD</a:t>
                      </a:r>
                      <a:endParaRPr lang="en-US" sz="1100" dirty="0"/>
                    </a:p>
                  </a:txBody>
                  <a:tcPr marL="58056" marR="58056" marT="29028" marB="29028"/>
                </a:tc>
                <a:tc>
                  <a:txBody>
                    <a:bodyPr/>
                    <a:lstStyle/>
                    <a:p>
                      <a:r>
                        <a:rPr lang="en-US" sz="1100" dirty="0"/>
                        <a:t>20.0%</a:t>
                      </a:r>
                    </a:p>
                  </a:txBody>
                  <a:tcPr marL="58056" marR="58056" marT="29028" marB="29028"/>
                </a:tc>
                <a:tc>
                  <a:txBody>
                    <a:bodyPr/>
                    <a:lstStyle/>
                    <a:p>
                      <a:r>
                        <a:rPr lang="en-US" sz="1100" dirty="0"/>
                        <a:t>59.8%</a:t>
                      </a:r>
                    </a:p>
                  </a:txBody>
                  <a:tcPr marL="58056" marR="58056" marT="29028" marB="29028"/>
                </a:tc>
                <a:extLst>
                  <a:ext uri="{0D108BD9-81ED-4DB2-BD59-A6C34878D82A}">
                    <a16:rowId xmlns:a16="http://schemas.microsoft.com/office/drawing/2014/main" val="1897170986"/>
                  </a:ext>
                </a:extLst>
              </a:tr>
              <a:tr h="235448">
                <a:tc>
                  <a:txBody>
                    <a:bodyPr/>
                    <a:lstStyle/>
                    <a:p>
                      <a:r>
                        <a:rPr lang="en-US" sz="1100" dirty="0" err="1"/>
                        <a:t>FacultyX</a:t>
                      </a:r>
                      <a:endParaRPr lang="en-US" sz="1100" dirty="0"/>
                    </a:p>
                  </a:txBody>
                  <a:tcPr marL="58056" marR="58056" marT="29028" marB="29028"/>
                </a:tc>
                <a:tc>
                  <a:txBody>
                    <a:bodyPr/>
                    <a:lstStyle/>
                    <a:p>
                      <a:r>
                        <a:rPr lang="en-US" sz="1100" dirty="0"/>
                        <a:t>16.7%</a:t>
                      </a:r>
                    </a:p>
                  </a:txBody>
                  <a:tcPr marL="58056" marR="58056" marT="29028" marB="29028"/>
                </a:tc>
                <a:tc>
                  <a:txBody>
                    <a:bodyPr/>
                    <a:lstStyle/>
                    <a:p>
                      <a:r>
                        <a:rPr lang="en-US" sz="1100" dirty="0"/>
                        <a:t>69.1%</a:t>
                      </a:r>
                    </a:p>
                  </a:txBody>
                  <a:tcPr marL="58056" marR="58056" marT="29028" marB="29028"/>
                </a:tc>
                <a:extLst>
                  <a:ext uri="{0D108BD9-81ED-4DB2-BD59-A6C34878D82A}">
                    <a16:rowId xmlns:a16="http://schemas.microsoft.com/office/drawing/2014/main" val="1959006143"/>
                  </a:ext>
                </a:extLst>
              </a:tr>
              <a:tr h="235448">
                <a:tc>
                  <a:txBody>
                    <a:bodyPr/>
                    <a:lstStyle/>
                    <a:p>
                      <a:r>
                        <a:rPr lang="en-US" sz="1100" dirty="0"/>
                        <a:t>Faculty47</a:t>
                      </a:r>
                    </a:p>
                  </a:txBody>
                  <a:tcPr marL="58056" marR="58056" marT="29028" marB="29028"/>
                </a:tc>
                <a:tc>
                  <a:txBody>
                    <a:bodyPr/>
                    <a:lstStyle/>
                    <a:p>
                      <a:r>
                        <a:rPr lang="en-US" sz="1100" dirty="0"/>
                        <a:t>14.3%</a:t>
                      </a:r>
                    </a:p>
                  </a:txBody>
                  <a:tcPr marL="58056" marR="58056" marT="29028" marB="29028"/>
                </a:tc>
                <a:tc>
                  <a:txBody>
                    <a:bodyPr/>
                    <a:lstStyle/>
                    <a:p>
                      <a:r>
                        <a:rPr lang="en-US" sz="1100" dirty="0"/>
                        <a:t>72.6%</a:t>
                      </a:r>
                    </a:p>
                  </a:txBody>
                  <a:tcPr marL="58056" marR="58056" marT="29028" marB="29028"/>
                </a:tc>
                <a:extLst>
                  <a:ext uri="{0D108BD9-81ED-4DB2-BD59-A6C34878D82A}">
                    <a16:rowId xmlns:a16="http://schemas.microsoft.com/office/drawing/2014/main" val="4085054146"/>
                  </a:ext>
                </a:extLst>
              </a:tr>
              <a:tr h="235448">
                <a:tc>
                  <a:txBody>
                    <a:bodyPr/>
                    <a:lstStyle/>
                    <a:p>
                      <a:r>
                        <a:rPr lang="en-US" sz="1100" dirty="0"/>
                        <a:t>Faculty50</a:t>
                      </a:r>
                    </a:p>
                  </a:txBody>
                  <a:tcPr marL="58056" marR="58056" marT="29028" marB="29028"/>
                </a:tc>
                <a:tc>
                  <a:txBody>
                    <a:bodyPr/>
                    <a:lstStyle/>
                    <a:p>
                      <a:r>
                        <a:rPr lang="en-US" sz="1100" dirty="0"/>
                        <a:t>14.2%</a:t>
                      </a:r>
                    </a:p>
                  </a:txBody>
                  <a:tcPr marL="58056" marR="58056" marT="29028" marB="29028"/>
                </a:tc>
                <a:tc>
                  <a:txBody>
                    <a:bodyPr/>
                    <a:lstStyle/>
                    <a:p>
                      <a:r>
                        <a:rPr lang="en-US" sz="1100" dirty="0"/>
                        <a:t>69.8%</a:t>
                      </a:r>
                    </a:p>
                  </a:txBody>
                  <a:tcPr marL="58056" marR="58056" marT="29028" marB="29028"/>
                </a:tc>
                <a:extLst>
                  <a:ext uri="{0D108BD9-81ED-4DB2-BD59-A6C34878D82A}">
                    <a16:rowId xmlns:a16="http://schemas.microsoft.com/office/drawing/2014/main" val="448386636"/>
                  </a:ext>
                </a:extLst>
              </a:tr>
            </a:tbl>
          </a:graphicData>
        </a:graphic>
      </p:graphicFrame>
      <p:graphicFrame>
        <p:nvGraphicFramePr>
          <p:cNvPr id="5" name="Table 4">
            <a:extLst>
              <a:ext uri="{FF2B5EF4-FFF2-40B4-BE49-F238E27FC236}">
                <a16:creationId xmlns:a16="http://schemas.microsoft.com/office/drawing/2014/main" id="{27C8FAD0-7BB0-0AA4-FED1-06AA2695FE0F}"/>
              </a:ext>
            </a:extLst>
          </p:cNvPr>
          <p:cNvGraphicFramePr>
            <a:graphicFrameLocks noGrp="1"/>
          </p:cNvGraphicFramePr>
          <p:nvPr>
            <p:extLst>
              <p:ext uri="{D42A27DB-BD31-4B8C-83A1-F6EECF244321}">
                <p14:modId xmlns:p14="http://schemas.microsoft.com/office/powerpoint/2010/main" val="3203353037"/>
              </p:ext>
            </p:extLst>
          </p:nvPr>
        </p:nvGraphicFramePr>
        <p:xfrm>
          <a:off x="6368147" y="5062089"/>
          <a:ext cx="5141871" cy="1437600"/>
        </p:xfrm>
        <a:graphic>
          <a:graphicData uri="http://schemas.openxmlformats.org/drawingml/2006/table">
            <a:tbl>
              <a:tblPr firstRow="1" bandRow="1">
                <a:tableStyleId>{5C22544A-7EE6-4342-B048-85BDC9FD1C3A}</a:tableStyleId>
              </a:tblPr>
              <a:tblGrid>
                <a:gridCol w="1713957">
                  <a:extLst>
                    <a:ext uri="{9D8B030D-6E8A-4147-A177-3AD203B41FA5}">
                      <a16:colId xmlns:a16="http://schemas.microsoft.com/office/drawing/2014/main" val="2721733308"/>
                    </a:ext>
                  </a:extLst>
                </a:gridCol>
                <a:gridCol w="1713957">
                  <a:extLst>
                    <a:ext uri="{9D8B030D-6E8A-4147-A177-3AD203B41FA5}">
                      <a16:colId xmlns:a16="http://schemas.microsoft.com/office/drawing/2014/main" val="2761714154"/>
                    </a:ext>
                  </a:extLst>
                </a:gridCol>
                <a:gridCol w="1713957">
                  <a:extLst>
                    <a:ext uri="{9D8B030D-6E8A-4147-A177-3AD203B41FA5}">
                      <a16:colId xmlns:a16="http://schemas.microsoft.com/office/drawing/2014/main" val="769411488"/>
                    </a:ext>
                  </a:extLst>
                </a:gridCol>
              </a:tblGrid>
              <a:tr h="235448">
                <a:tc>
                  <a:txBody>
                    <a:bodyPr/>
                    <a:lstStyle/>
                    <a:p>
                      <a:r>
                        <a:rPr lang="en-US" sz="1200" dirty="0"/>
                        <a:t>Faculty</a:t>
                      </a:r>
                    </a:p>
                  </a:txBody>
                  <a:tcPr marL="56719" marR="56719" marT="28360" marB="28360"/>
                </a:tc>
                <a:tc>
                  <a:txBody>
                    <a:bodyPr/>
                    <a:lstStyle/>
                    <a:p>
                      <a:r>
                        <a:rPr lang="en-US" sz="1200" dirty="0"/>
                        <a:t>Actual %</a:t>
                      </a:r>
                    </a:p>
                  </a:txBody>
                  <a:tcPr marL="56719" marR="56719" marT="28360" marB="28360"/>
                </a:tc>
                <a:tc>
                  <a:txBody>
                    <a:bodyPr/>
                    <a:lstStyle/>
                    <a:p>
                      <a:r>
                        <a:rPr lang="en-US" sz="1200" dirty="0"/>
                        <a:t>Model Probability</a:t>
                      </a:r>
                    </a:p>
                  </a:txBody>
                  <a:tcPr marL="56719" marR="56719" marT="28360" marB="28360"/>
                </a:tc>
                <a:extLst>
                  <a:ext uri="{0D108BD9-81ED-4DB2-BD59-A6C34878D82A}">
                    <a16:rowId xmlns:a16="http://schemas.microsoft.com/office/drawing/2014/main" val="2842672563"/>
                  </a:ext>
                </a:extLst>
              </a:tr>
              <a:tr h="235448">
                <a:tc>
                  <a:txBody>
                    <a:bodyPr/>
                    <a:lstStyle/>
                    <a:p>
                      <a:r>
                        <a:rPr lang="en-US" sz="1200" dirty="0"/>
                        <a:t>Faculty48</a:t>
                      </a:r>
                    </a:p>
                  </a:txBody>
                  <a:tcPr marL="56719" marR="56719" marT="28360" marB="28360"/>
                </a:tc>
                <a:tc>
                  <a:txBody>
                    <a:bodyPr/>
                    <a:lstStyle/>
                    <a:p>
                      <a:r>
                        <a:rPr lang="en-US" sz="1200" dirty="0"/>
                        <a:t>0%</a:t>
                      </a:r>
                    </a:p>
                  </a:txBody>
                  <a:tcPr marL="56719" marR="56719" marT="28360" marB="28360"/>
                </a:tc>
                <a:tc>
                  <a:txBody>
                    <a:bodyPr/>
                    <a:lstStyle/>
                    <a:p>
                      <a:r>
                        <a:rPr lang="en-US" sz="1200" dirty="0"/>
                        <a:t>4.1%</a:t>
                      </a:r>
                    </a:p>
                  </a:txBody>
                  <a:tcPr marL="56719" marR="56719" marT="28360" marB="28360"/>
                </a:tc>
                <a:extLst>
                  <a:ext uri="{0D108BD9-81ED-4DB2-BD59-A6C34878D82A}">
                    <a16:rowId xmlns:a16="http://schemas.microsoft.com/office/drawing/2014/main" val="3049095744"/>
                  </a:ext>
                </a:extLst>
              </a:tr>
              <a:tr h="235448">
                <a:tc>
                  <a:txBody>
                    <a:bodyPr/>
                    <a:lstStyle/>
                    <a:p>
                      <a:r>
                        <a:rPr lang="en-US" sz="1200" dirty="0"/>
                        <a:t>Faculty37</a:t>
                      </a:r>
                    </a:p>
                  </a:txBody>
                  <a:tcPr marL="56719" marR="56719" marT="28360" marB="28360"/>
                </a:tc>
                <a:tc>
                  <a:txBody>
                    <a:bodyPr/>
                    <a:lstStyle/>
                    <a:p>
                      <a:r>
                        <a:rPr lang="en-US" sz="1200" dirty="0"/>
                        <a:t>0%</a:t>
                      </a:r>
                    </a:p>
                  </a:txBody>
                  <a:tcPr marL="56719" marR="56719" marT="28360" marB="28360"/>
                </a:tc>
                <a:tc>
                  <a:txBody>
                    <a:bodyPr/>
                    <a:lstStyle/>
                    <a:p>
                      <a:r>
                        <a:rPr lang="en-US" sz="1200" dirty="0"/>
                        <a:t>3.2%</a:t>
                      </a:r>
                    </a:p>
                  </a:txBody>
                  <a:tcPr marL="56719" marR="56719" marT="28360" marB="28360"/>
                </a:tc>
                <a:extLst>
                  <a:ext uri="{0D108BD9-81ED-4DB2-BD59-A6C34878D82A}">
                    <a16:rowId xmlns:a16="http://schemas.microsoft.com/office/drawing/2014/main" val="2187794880"/>
                  </a:ext>
                </a:extLst>
              </a:tr>
              <a:tr h="235448">
                <a:tc>
                  <a:txBody>
                    <a:bodyPr/>
                    <a:lstStyle/>
                    <a:p>
                      <a:r>
                        <a:rPr lang="en-US" sz="1200" dirty="0"/>
                        <a:t>Faculty49</a:t>
                      </a:r>
                    </a:p>
                  </a:txBody>
                  <a:tcPr marL="56719" marR="56719" marT="28360" marB="28360"/>
                </a:tc>
                <a:tc>
                  <a:txBody>
                    <a:bodyPr/>
                    <a:lstStyle/>
                    <a:p>
                      <a:r>
                        <a:rPr lang="en-US" sz="1200" dirty="0"/>
                        <a:t>0%</a:t>
                      </a:r>
                    </a:p>
                  </a:txBody>
                  <a:tcPr marL="56719" marR="56719" marT="28360" marB="28360"/>
                </a:tc>
                <a:tc>
                  <a:txBody>
                    <a:bodyPr/>
                    <a:lstStyle/>
                    <a:p>
                      <a:r>
                        <a:rPr lang="en-US" sz="1200" dirty="0"/>
                        <a:t>2.7%</a:t>
                      </a:r>
                    </a:p>
                  </a:txBody>
                  <a:tcPr marL="56719" marR="56719" marT="28360" marB="28360"/>
                </a:tc>
                <a:extLst>
                  <a:ext uri="{0D108BD9-81ED-4DB2-BD59-A6C34878D82A}">
                    <a16:rowId xmlns:a16="http://schemas.microsoft.com/office/drawing/2014/main" val="1578357546"/>
                  </a:ext>
                </a:extLst>
              </a:tr>
              <a:tr h="235448">
                <a:tc>
                  <a:txBody>
                    <a:bodyPr/>
                    <a:lstStyle/>
                    <a:p>
                      <a:r>
                        <a:rPr lang="en-US" sz="1200" dirty="0"/>
                        <a:t>FacultyB</a:t>
                      </a:r>
                    </a:p>
                  </a:txBody>
                  <a:tcPr marL="56719" marR="56719" marT="28360" marB="28360"/>
                </a:tc>
                <a:tc>
                  <a:txBody>
                    <a:bodyPr/>
                    <a:lstStyle/>
                    <a:p>
                      <a:r>
                        <a:rPr lang="en-US" sz="1200" dirty="0"/>
                        <a:t>0%</a:t>
                      </a:r>
                    </a:p>
                  </a:txBody>
                  <a:tcPr marL="56719" marR="56719" marT="28360" marB="28360"/>
                </a:tc>
                <a:tc>
                  <a:txBody>
                    <a:bodyPr/>
                    <a:lstStyle/>
                    <a:p>
                      <a:r>
                        <a:rPr lang="en-US" sz="1200" dirty="0"/>
                        <a:t>2.7%</a:t>
                      </a:r>
                    </a:p>
                  </a:txBody>
                  <a:tcPr marL="56719" marR="56719" marT="28360" marB="28360"/>
                </a:tc>
                <a:extLst>
                  <a:ext uri="{0D108BD9-81ED-4DB2-BD59-A6C34878D82A}">
                    <a16:rowId xmlns:a16="http://schemas.microsoft.com/office/drawing/2014/main" val="2691527672"/>
                  </a:ext>
                </a:extLst>
              </a:tr>
              <a:tr h="235448">
                <a:tc>
                  <a:txBody>
                    <a:bodyPr/>
                    <a:lstStyle/>
                    <a:p>
                      <a:r>
                        <a:rPr lang="en-US" sz="1200" dirty="0"/>
                        <a:t>FacultyQ</a:t>
                      </a:r>
                    </a:p>
                  </a:txBody>
                  <a:tcPr marL="56719" marR="56719" marT="28360" marB="28360"/>
                </a:tc>
                <a:tc>
                  <a:txBody>
                    <a:bodyPr/>
                    <a:lstStyle/>
                    <a:p>
                      <a:r>
                        <a:rPr lang="en-US" sz="1200" dirty="0"/>
                        <a:t>0%</a:t>
                      </a:r>
                    </a:p>
                  </a:txBody>
                  <a:tcPr marL="56719" marR="56719" marT="28360" marB="28360"/>
                </a:tc>
                <a:tc>
                  <a:txBody>
                    <a:bodyPr/>
                    <a:lstStyle/>
                    <a:p>
                      <a:r>
                        <a:rPr lang="en-US" sz="1200" dirty="0"/>
                        <a:t>19.1%</a:t>
                      </a:r>
                    </a:p>
                  </a:txBody>
                  <a:tcPr marL="56719" marR="56719" marT="28360" marB="28360"/>
                </a:tc>
                <a:extLst>
                  <a:ext uri="{0D108BD9-81ED-4DB2-BD59-A6C34878D82A}">
                    <a16:rowId xmlns:a16="http://schemas.microsoft.com/office/drawing/2014/main" val="2042767852"/>
                  </a:ext>
                </a:extLst>
              </a:tr>
            </a:tbl>
          </a:graphicData>
        </a:graphic>
      </p:graphicFrame>
      <p:sp>
        <p:nvSpPr>
          <p:cNvPr id="6" name="TextBox 5">
            <a:extLst>
              <a:ext uri="{FF2B5EF4-FFF2-40B4-BE49-F238E27FC236}">
                <a16:creationId xmlns:a16="http://schemas.microsoft.com/office/drawing/2014/main" id="{AC12770F-A6A2-D3E3-6318-E90A09556B80}"/>
              </a:ext>
            </a:extLst>
          </p:cNvPr>
          <p:cNvSpPr txBox="1"/>
          <p:nvPr/>
        </p:nvSpPr>
        <p:spPr>
          <a:xfrm>
            <a:off x="6368147" y="2756847"/>
            <a:ext cx="3898631" cy="400110"/>
          </a:xfrm>
          <a:prstGeom prst="rect">
            <a:avLst/>
          </a:prstGeom>
          <a:noFill/>
        </p:spPr>
        <p:txBody>
          <a:bodyPr wrap="none" rtlCol="0">
            <a:spAutoFit/>
          </a:bodyPr>
          <a:lstStyle/>
          <a:p>
            <a:r>
              <a:rPr lang="en-US" sz="2000" dirty="0"/>
              <a:t>Top 5 Predicted (High Probability):</a:t>
            </a:r>
          </a:p>
        </p:txBody>
      </p:sp>
      <p:sp>
        <p:nvSpPr>
          <p:cNvPr id="7" name="TextBox 6">
            <a:extLst>
              <a:ext uri="{FF2B5EF4-FFF2-40B4-BE49-F238E27FC236}">
                <a16:creationId xmlns:a16="http://schemas.microsoft.com/office/drawing/2014/main" id="{7B5940EE-53E4-28E5-0049-6361A2960276}"/>
              </a:ext>
            </a:extLst>
          </p:cNvPr>
          <p:cNvSpPr txBox="1"/>
          <p:nvPr/>
        </p:nvSpPr>
        <p:spPr>
          <a:xfrm>
            <a:off x="6368147" y="4661979"/>
            <a:ext cx="4275081" cy="400110"/>
          </a:xfrm>
          <a:prstGeom prst="rect">
            <a:avLst/>
          </a:prstGeom>
          <a:noFill/>
        </p:spPr>
        <p:txBody>
          <a:bodyPr wrap="none" rtlCol="0">
            <a:spAutoFit/>
          </a:bodyPr>
          <a:lstStyle/>
          <a:p>
            <a:r>
              <a:rPr lang="en-US" sz="2000" dirty="0"/>
              <a:t>Bottom 5 Predicted (Low Probability):</a:t>
            </a:r>
          </a:p>
        </p:txBody>
      </p:sp>
      <p:sp>
        <p:nvSpPr>
          <p:cNvPr id="10" name="TextBox 9">
            <a:extLst>
              <a:ext uri="{FF2B5EF4-FFF2-40B4-BE49-F238E27FC236}">
                <a16:creationId xmlns:a16="http://schemas.microsoft.com/office/drawing/2014/main" id="{9102039B-E0FB-BA5C-F9BD-F84282A04F99}"/>
              </a:ext>
            </a:extLst>
          </p:cNvPr>
          <p:cNvSpPr txBox="1"/>
          <p:nvPr/>
        </p:nvSpPr>
        <p:spPr>
          <a:xfrm>
            <a:off x="6349529" y="1996857"/>
            <a:ext cx="5261279" cy="707886"/>
          </a:xfrm>
          <a:prstGeom prst="rect">
            <a:avLst/>
          </a:prstGeom>
          <a:noFill/>
        </p:spPr>
        <p:txBody>
          <a:bodyPr wrap="square" rtlCol="0">
            <a:spAutoFit/>
          </a:bodyPr>
          <a:lstStyle/>
          <a:p>
            <a:r>
              <a:rPr lang="en-US" sz="2000" dirty="0"/>
              <a:t>Predicted probability of working with CRNA_CRNA27:</a:t>
            </a:r>
          </a:p>
        </p:txBody>
      </p:sp>
      <p:pic>
        <p:nvPicPr>
          <p:cNvPr id="15" name="Picture 14" descr="A chart of different colored squares&#10;&#10;AI-generated content may be incorrect.">
            <a:extLst>
              <a:ext uri="{FF2B5EF4-FFF2-40B4-BE49-F238E27FC236}">
                <a16:creationId xmlns:a16="http://schemas.microsoft.com/office/drawing/2014/main" id="{E0C64767-C6D8-A11B-5A45-3182FDE1B2B1}"/>
              </a:ext>
            </a:extLst>
          </p:cNvPr>
          <p:cNvPicPr>
            <a:picLocks noChangeAspect="1"/>
          </p:cNvPicPr>
          <p:nvPr/>
        </p:nvPicPr>
        <p:blipFill>
          <a:blip r:embed="rId3"/>
          <a:stretch>
            <a:fillRect/>
          </a:stretch>
        </p:blipFill>
        <p:spPr>
          <a:xfrm>
            <a:off x="113387" y="2350800"/>
            <a:ext cx="6196707" cy="3973009"/>
          </a:xfrm>
          <a:prstGeom prst="rect">
            <a:avLst/>
          </a:prstGeom>
        </p:spPr>
      </p:pic>
    </p:spTree>
    <p:extLst>
      <p:ext uri="{BB962C8B-B14F-4D97-AF65-F5344CB8AC3E}">
        <p14:creationId xmlns:p14="http://schemas.microsoft.com/office/powerpoint/2010/main" val="254769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B7870D-F92A-C6EF-52DD-7FE89BF9B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03EEB-A0D1-6A55-2D57-9CFD493C4A54}"/>
              </a:ext>
            </a:extLst>
          </p:cNvPr>
          <p:cNvSpPr>
            <a:spLocks noGrp="1"/>
          </p:cNvSpPr>
          <p:nvPr>
            <p:ph type="title"/>
          </p:nvPr>
        </p:nvSpPr>
        <p:spPr/>
        <p:txBody>
          <a:bodyPr/>
          <a:lstStyle/>
          <a:p>
            <a:r>
              <a:rPr lang="en-US" dirty="0"/>
              <a:t>Model 3 – Example Predictions</a:t>
            </a:r>
          </a:p>
        </p:txBody>
      </p:sp>
      <p:graphicFrame>
        <p:nvGraphicFramePr>
          <p:cNvPr id="4" name="Table 3">
            <a:extLst>
              <a:ext uri="{FF2B5EF4-FFF2-40B4-BE49-F238E27FC236}">
                <a16:creationId xmlns:a16="http://schemas.microsoft.com/office/drawing/2014/main" id="{40FE78F0-7C44-AAB9-EF46-B09343757DBE}"/>
              </a:ext>
            </a:extLst>
          </p:cNvPr>
          <p:cNvGraphicFramePr>
            <a:graphicFrameLocks noGrp="1"/>
          </p:cNvGraphicFramePr>
          <p:nvPr/>
        </p:nvGraphicFramePr>
        <p:xfrm>
          <a:off x="834721" y="3131557"/>
          <a:ext cx="5160489" cy="1412688"/>
        </p:xfrm>
        <a:graphic>
          <a:graphicData uri="http://schemas.openxmlformats.org/drawingml/2006/table">
            <a:tbl>
              <a:tblPr firstRow="1" bandRow="1">
                <a:tableStyleId>{5C22544A-7EE6-4342-B048-85BDC9FD1C3A}</a:tableStyleId>
              </a:tblPr>
              <a:tblGrid>
                <a:gridCol w="1720163">
                  <a:extLst>
                    <a:ext uri="{9D8B030D-6E8A-4147-A177-3AD203B41FA5}">
                      <a16:colId xmlns:a16="http://schemas.microsoft.com/office/drawing/2014/main" val="3096453440"/>
                    </a:ext>
                  </a:extLst>
                </a:gridCol>
                <a:gridCol w="1720163">
                  <a:extLst>
                    <a:ext uri="{9D8B030D-6E8A-4147-A177-3AD203B41FA5}">
                      <a16:colId xmlns:a16="http://schemas.microsoft.com/office/drawing/2014/main" val="1121117945"/>
                    </a:ext>
                  </a:extLst>
                </a:gridCol>
                <a:gridCol w="1720163">
                  <a:extLst>
                    <a:ext uri="{9D8B030D-6E8A-4147-A177-3AD203B41FA5}">
                      <a16:colId xmlns:a16="http://schemas.microsoft.com/office/drawing/2014/main" val="929553762"/>
                    </a:ext>
                  </a:extLst>
                </a:gridCol>
              </a:tblGrid>
              <a:tr h="235448">
                <a:tc>
                  <a:txBody>
                    <a:bodyPr/>
                    <a:lstStyle/>
                    <a:p>
                      <a:r>
                        <a:rPr lang="en-US" sz="1100" dirty="0"/>
                        <a:t>Faculty</a:t>
                      </a:r>
                    </a:p>
                  </a:txBody>
                  <a:tcPr marL="58056" marR="58056" marT="29028" marB="29028"/>
                </a:tc>
                <a:tc>
                  <a:txBody>
                    <a:bodyPr/>
                    <a:lstStyle/>
                    <a:p>
                      <a:r>
                        <a:rPr lang="en-US" sz="1100" dirty="0"/>
                        <a:t>Actual %</a:t>
                      </a:r>
                    </a:p>
                  </a:txBody>
                  <a:tcPr marL="58056" marR="58056" marT="29028" marB="29028"/>
                </a:tc>
                <a:tc>
                  <a:txBody>
                    <a:bodyPr/>
                    <a:lstStyle/>
                    <a:p>
                      <a:r>
                        <a:rPr lang="en-US" sz="1100" dirty="0"/>
                        <a:t>Model Probability</a:t>
                      </a:r>
                    </a:p>
                  </a:txBody>
                  <a:tcPr marL="58056" marR="58056" marT="29028" marB="29028"/>
                </a:tc>
                <a:extLst>
                  <a:ext uri="{0D108BD9-81ED-4DB2-BD59-A6C34878D82A}">
                    <a16:rowId xmlns:a16="http://schemas.microsoft.com/office/drawing/2014/main" val="2937265993"/>
                  </a:ext>
                </a:extLst>
              </a:tr>
              <a:tr h="235448">
                <a:tc>
                  <a:txBody>
                    <a:bodyPr/>
                    <a:lstStyle/>
                    <a:p>
                      <a:r>
                        <a:rPr lang="en-US" sz="1100" dirty="0" err="1"/>
                        <a:t>FacultyN</a:t>
                      </a:r>
                      <a:endParaRPr lang="en-US" sz="1100" dirty="0"/>
                    </a:p>
                  </a:txBody>
                  <a:tcPr marL="58056" marR="58056" marT="29028" marB="29028"/>
                </a:tc>
                <a:tc>
                  <a:txBody>
                    <a:bodyPr/>
                    <a:lstStyle/>
                    <a:p>
                      <a:r>
                        <a:rPr lang="en-US" sz="1100" dirty="0"/>
                        <a:t>28.6%</a:t>
                      </a:r>
                    </a:p>
                  </a:txBody>
                  <a:tcPr marL="58056" marR="58056" marT="29028" marB="29028"/>
                </a:tc>
                <a:tc>
                  <a:txBody>
                    <a:bodyPr/>
                    <a:lstStyle/>
                    <a:p>
                      <a:r>
                        <a:rPr lang="en-US" sz="1100" dirty="0"/>
                        <a:t>60.1%</a:t>
                      </a:r>
                    </a:p>
                  </a:txBody>
                  <a:tcPr marL="58056" marR="58056" marT="29028" marB="29028"/>
                </a:tc>
                <a:extLst>
                  <a:ext uri="{0D108BD9-81ED-4DB2-BD59-A6C34878D82A}">
                    <a16:rowId xmlns:a16="http://schemas.microsoft.com/office/drawing/2014/main" val="1311490911"/>
                  </a:ext>
                </a:extLst>
              </a:tr>
              <a:tr h="235448">
                <a:tc>
                  <a:txBody>
                    <a:bodyPr/>
                    <a:lstStyle/>
                    <a:p>
                      <a:r>
                        <a:rPr lang="en-US" sz="1100" dirty="0" err="1"/>
                        <a:t>FacultyD</a:t>
                      </a:r>
                      <a:endParaRPr lang="en-US" sz="1100" dirty="0"/>
                    </a:p>
                  </a:txBody>
                  <a:tcPr marL="58056" marR="58056" marT="29028" marB="29028"/>
                </a:tc>
                <a:tc>
                  <a:txBody>
                    <a:bodyPr/>
                    <a:lstStyle/>
                    <a:p>
                      <a:r>
                        <a:rPr lang="en-US" sz="1100" dirty="0"/>
                        <a:t>20.0%</a:t>
                      </a:r>
                    </a:p>
                  </a:txBody>
                  <a:tcPr marL="58056" marR="58056" marT="29028" marB="29028"/>
                </a:tc>
                <a:tc>
                  <a:txBody>
                    <a:bodyPr/>
                    <a:lstStyle/>
                    <a:p>
                      <a:r>
                        <a:rPr lang="en-US" sz="1100" dirty="0"/>
                        <a:t>59.8%</a:t>
                      </a:r>
                    </a:p>
                  </a:txBody>
                  <a:tcPr marL="58056" marR="58056" marT="29028" marB="29028"/>
                </a:tc>
                <a:extLst>
                  <a:ext uri="{0D108BD9-81ED-4DB2-BD59-A6C34878D82A}">
                    <a16:rowId xmlns:a16="http://schemas.microsoft.com/office/drawing/2014/main" val="1897170986"/>
                  </a:ext>
                </a:extLst>
              </a:tr>
              <a:tr h="235448">
                <a:tc>
                  <a:txBody>
                    <a:bodyPr/>
                    <a:lstStyle/>
                    <a:p>
                      <a:r>
                        <a:rPr lang="en-US" sz="1100" dirty="0" err="1"/>
                        <a:t>FacultyX</a:t>
                      </a:r>
                      <a:endParaRPr lang="en-US" sz="1100" dirty="0"/>
                    </a:p>
                  </a:txBody>
                  <a:tcPr marL="58056" marR="58056" marT="29028" marB="29028"/>
                </a:tc>
                <a:tc>
                  <a:txBody>
                    <a:bodyPr/>
                    <a:lstStyle/>
                    <a:p>
                      <a:r>
                        <a:rPr lang="en-US" sz="1100" dirty="0"/>
                        <a:t>16.7%</a:t>
                      </a:r>
                    </a:p>
                  </a:txBody>
                  <a:tcPr marL="58056" marR="58056" marT="29028" marB="29028"/>
                </a:tc>
                <a:tc>
                  <a:txBody>
                    <a:bodyPr/>
                    <a:lstStyle/>
                    <a:p>
                      <a:r>
                        <a:rPr lang="en-US" sz="1100" dirty="0"/>
                        <a:t>69.1%</a:t>
                      </a:r>
                    </a:p>
                  </a:txBody>
                  <a:tcPr marL="58056" marR="58056" marT="29028" marB="29028"/>
                </a:tc>
                <a:extLst>
                  <a:ext uri="{0D108BD9-81ED-4DB2-BD59-A6C34878D82A}">
                    <a16:rowId xmlns:a16="http://schemas.microsoft.com/office/drawing/2014/main" val="1959006143"/>
                  </a:ext>
                </a:extLst>
              </a:tr>
              <a:tr h="235448">
                <a:tc>
                  <a:txBody>
                    <a:bodyPr/>
                    <a:lstStyle/>
                    <a:p>
                      <a:r>
                        <a:rPr lang="en-US" sz="1100" dirty="0"/>
                        <a:t>Faculty47</a:t>
                      </a:r>
                    </a:p>
                  </a:txBody>
                  <a:tcPr marL="58056" marR="58056" marT="29028" marB="29028"/>
                </a:tc>
                <a:tc>
                  <a:txBody>
                    <a:bodyPr/>
                    <a:lstStyle/>
                    <a:p>
                      <a:r>
                        <a:rPr lang="en-US" sz="1100" dirty="0"/>
                        <a:t>14.3%</a:t>
                      </a:r>
                    </a:p>
                  </a:txBody>
                  <a:tcPr marL="58056" marR="58056" marT="29028" marB="29028"/>
                </a:tc>
                <a:tc>
                  <a:txBody>
                    <a:bodyPr/>
                    <a:lstStyle/>
                    <a:p>
                      <a:r>
                        <a:rPr lang="en-US" sz="1100" dirty="0"/>
                        <a:t>72.6%</a:t>
                      </a:r>
                    </a:p>
                  </a:txBody>
                  <a:tcPr marL="58056" marR="58056" marT="29028" marB="29028"/>
                </a:tc>
                <a:extLst>
                  <a:ext uri="{0D108BD9-81ED-4DB2-BD59-A6C34878D82A}">
                    <a16:rowId xmlns:a16="http://schemas.microsoft.com/office/drawing/2014/main" val="4085054146"/>
                  </a:ext>
                </a:extLst>
              </a:tr>
              <a:tr h="235448">
                <a:tc>
                  <a:txBody>
                    <a:bodyPr/>
                    <a:lstStyle/>
                    <a:p>
                      <a:r>
                        <a:rPr lang="en-US" sz="1100" dirty="0"/>
                        <a:t>Faculty50</a:t>
                      </a:r>
                    </a:p>
                  </a:txBody>
                  <a:tcPr marL="58056" marR="58056" marT="29028" marB="29028"/>
                </a:tc>
                <a:tc>
                  <a:txBody>
                    <a:bodyPr/>
                    <a:lstStyle/>
                    <a:p>
                      <a:r>
                        <a:rPr lang="en-US" sz="1100" dirty="0"/>
                        <a:t>14.2%</a:t>
                      </a:r>
                    </a:p>
                  </a:txBody>
                  <a:tcPr marL="58056" marR="58056" marT="29028" marB="29028"/>
                </a:tc>
                <a:tc>
                  <a:txBody>
                    <a:bodyPr/>
                    <a:lstStyle/>
                    <a:p>
                      <a:r>
                        <a:rPr lang="en-US" sz="1100" dirty="0"/>
                        <a:t>69.8%</a:t>
                      </a:r>
                    </a:p>
                  </a:txBody>
                  <a:tcPr marL="58056" marR="58056" marT="29028" marB="29028"/>
                </a:tc>
                <a:extLst>
                  <a:ext uri="{0D108BD9-81ED-4DB2-BD59-A6C34878D82A}">
                    <a16:rowId xmlns:a16="http://schemas.microsoft.com/office/drawing/2014/main" val="448386636"/>
                  </a:ext>
                </a:extLst>
              </a:tr>
            </a:tbl>
          </a:graphicData>
        </a:graphic>
      </p:graphicFrame>
      <p:graphicFrame>
        <p:nvGraphicFramePr>
          <p:cNvPr id="5" name="Table 4">
            <a:extLst>
              <a:ext uri="{FF2B5EF4-FFF2-40B4-BE49-F238E27FC236}">
                <a16:creationId xmlns:a16="http://schemas.microsoft.com/office/drawing/2014/main" id="{09E6A478-1CD9-7502-6F86-12F4937895DD}"/>
              </a:ext>
            </a:extLst>
          </p:cNvPr>
          <p:cNvGraphicFramePr>
            <a:graphicFrameLocks noGrp="1"/>
          </p:cNvGraphicFramePr>
          <p:nvPr/>
        </p:nvGraphicFramePr>
        <p:xfrm>
          <a:off x="853339" y="5036689"/>
          <a:ext cx="5141871" cy="1437600"/>
        </p:xfrm>
        <a:graphic>
          <a:graphicData uri="http://schemas.openxmlformats.org/drawingml/2006/table">
            <a:tbl>
              <a:tblPr firstRow="1" bandRow="1">
                <a:tableStyleId>{5C22544A-7EE6-4342-B048-85BDC9FD1C3A}</a:tableStyleId>
              </a:tblPr>
              <a:tblGrid>
                <a:gridCol w="1713957">
                  <a:extLst>
                    <a:ext uri="{9D8B030D-6E8A-4147-A177-3AD203B41FA5}">
                      <a16:colId xmlns:a16="http://schemas.microsoft.com/office/drawing/2014/main" val="2721733308"/>
                    </a:ext>
                  </a:extLst>
                </a:gridCol>
                <a:gridCol w="1713957">
                  <a:extLst>
                    <a:ext uri="{9D8B030D-6E8A-4147-A177-3AD203B41FA5}">
                      <a16:colId xmlns:a16="http://schemas.microsoft.com/office/drawing/2014/main" val="2761714154"/>
                    </a:ext>
                  </a:extLst>
                </a:gridCol>
                <a:gridCol w="1713957">
                  <a:extLst>
                    <a:ext uri="{9D8B030D-6E8A-4147-A177-3AD203B41FA5}">
                      <a16:colId xmlns:a16="http://schemas.microsoft.com/office/drawing/2014/main" val="769411488"/>
                    </a:ext>
                  </a:extLst>
                </a:gridCol>
              </a:tblGrid>
              <a:tr h="235448">
                <a:tc>
                  <a:txBody>
                    <a:bodyPr/>
                    <a:lstStyle/>
                    <a:p>
                      <a:r>
                        <a:rPr lang="en-US" sz="1200" dirty="0"/>
                        <a:t>Faculty</a:t>
                      </a:r>
                    </a:p>
                  </a:txBody>
                  <a:tcPr marL="56719" marR="56719" marT="28360" marB="28360"/>
                </a:tc>
                <a:tc>
                  <a:txBody>
                    <a:bodyPr/>
                    <a:lstStyle/>
                    <a:p>
                      <a:r>
                        <a:rPr lang="en-US" sz="1200" dirty="0"/>
                        <a:t>Actual %</a:t>
                      </a:r>
                    </a:p>
                  </a:txBody>
                  <a:tcPr marL="56719" marR="56719" marT="28360" marB="28360"/>
                </a:tc>
                <a:tc>
                  <a:txBody>
                    <a:bodyPr/>
                    <a:lstStyle/>
                    <a:p>
                      <a:r>
                        <a:rPr lang="en-US" sz="1200" dirty="0"/>
                        <a:t>Model Probability</a:t>
                      </a:r>
                    </a:p>
                  </a:txBody>
                  <a:tcPr marL="56719" marR="56719" marT="28360" marB="28360"/>
                </a:tc>
                <a:extLst>
                  <a:ext uri="{0D108BD9-81ED-4DB2-BD59-A6C34878D82A}">
                    <a16:rowId xmlns:a16="http://schemas.microsoft.com/office/drawing/2014/main" val="2842672563"/>
                  </a:ext>
                </a:extLst>
              </a:tr>
              <a:tr h="235448">
                <a:tc>
                  <a:txBody>
                    <a:bodyPr/>
                    <a:lstStyle/>
                    <a:p>
                      <a:r>
                        <a:rPr lang="en-US" sz="1200" dirty="0"/>
                        <a:t>Faculty48</a:t>
                      </a:r>
                    </a:p>
                  </a:txBody>
                  <a:tcPr marL="56719" marR="56719" marT="28360" marB="28360"/>
                </a:tc>
                <a:tc>
                  <a:txBody>
                    <a:bodyPr/>
                    <a:lstStyle/>
                    <a:p>
                      <a:r>
                        <a:rPr lang="en-US" sz="1200" dirty="0"/>
                        <a:t>0%</a:t>
                      </a:r>
                    </a:p>
                  </a:txBody>
                  <a:tcPr marL="56719" marR="56719" marT="28360" marB="28360"/>
                </a:tc>
                <a:tc>
                  <a:txBody>
                    <a:bodyPr/>
                    <a:lstStyle/>
                    <a:p>
                      <a:r>
                        <a:rPr lang="en-US" sz="1200" dirty="0"/>
                        <a:t>4.1%</a:t>
                      </a:r>
                    </a:p>
                  </a:txBody>
                  <a:tcPr marL="56719" marR="56719" marT="28360" marB="28360"/>
                </a:tc>
                <a:extLst>
                  <a:ext uri="{0D108BD9-81ED-4DB2-BD59-A6C34878D82A}">
                    <a16:rowId xmlns:a16="http://schemas.microsoft.com/office/drawing/2014/main" val="3049095744"/>
                  </a:ext>
                </a:extLst>
              </a:tr>
              <a:tr h="235448">
                <a:tc>
                  <a:txBody>
                    <a:bodyPr/>
                    <a:lstStyle/>
                    <a:p>
                      <a:r>
                        <a:rPr lang="en-US" sz="1200" dirty="0"/>
                        <a:t>Faculty37</a:t>
                      </a:r>
                    </a:p>
                  </a:txBody>
                  <a:tcPr marL="56719" marR="56719" marT="28360" marB="28360"/>
                </a:tc>
                <a:tc>
                  <a:txBody>
                    <a:bodyPr/>
                    <a:lstStyle/>
                    <a:p>
                      <a:r>
                        <a:rPr lang="en-US" sz="1200" dirty="0"/>
                        <a:t>0%</a:t>
                      </a:r>
                    </a:p>
                  </a:txBody>
                  <a:tcPr marL="56719" marR="56719" marT="28360" marB="28360"/>
                </a:tc>
                <a:tc>
                  <a:txBody>
                    <a:bodyPr/>
                    <a:lstStyle/>
                    <a:p>
                      <a:r>
                        <a:rPr lang="en-US" sz="1200" dirty="0"/>
                        <a:t>3.2%</a:t>
                      </a:r>
                    </a:p>
                  </a:txBody>
                  <a:tcPr marL="56719" marR="56719" marT="28360" marB="28360"/>
                </a:tc>
                <a:extLst>
                  <a:ext uri="{0D108BD9-81ED-4DB2-BD59-A6C34878D82A}">
                    <a16:rowId xmlns:a16="http://schemas.microsoft.com/office/drawing/2014/main" val="2187794880"/>
                  </a:ext>
                </a:extLst>
              </a:tr>
              <a:tr h="235448">
                <a:tc>
                  <a:txBody>
                    <a:bodyPr/>
                    <a:lstStyle/>
                    <a:p>
                      <a:r>
                        <a:rPr lang="en-US" sz="1200" dirty="0"/>
                        <a:t>Faculty49</a:t>
                      </a:r>
                    </a:p>
                  </a:txBody>
                  <a:tcPr marL="56719" marR="56719" marT="28360" marB="28360"/>
                </a:tc>
                <a:tc>
                  <a:txBody>
                    <a:bodyPr/>
                    <a:lstStyle/>
                    <a:p>
                      <a:r>
                        <a:rPr lang="en-US" sz="1200" dirty="0"/>
                        <a:t>0%</a:t>
                      </a:r>
                    </a:p>
                  </a:txBody>
                  <a:tcPr marL="56719" marR="56719" marT="28360" marB="28360"/>
                </a:tc>
                <a:tc>
                  <a:txBody>
                    <a:bodyPr/>
                    <a:lstStyle/>
                    <a:p>
                      <a:r>
                        <a:rPr lang="en-US" sz="1200" dirty="0"/>
                        <a:t>2.7%</a:t>
                      </a:r>
                    </a:p>
                  </a:txBody>
                  <a:tcPr marL="56719" marR="56719" marT="28360" marB="28360"/>
                </a:tc>
                <a:extLst>
                  <a:ext uri="{0D108BD9-81ED-4DB2-BD59-A6C34878D82A}">
                    <a16:rowId xmlns:a16="http://schemas.microsoft.com/office/drawing/2014/main" val="1578357546"/>
                  </a:ext>
                </a:extLst>
              </a:tr>
              <a:tr h="235448">
                <a:tc>
                  <a:txBody>
                    <a:bodyPr/>
                    <a:lstStyle/>
                    <a:p>
                      <a:r>
                        <a:rPr lang="en-US" sz="1200" dirty="0"/>
                        <a:t>FacultyB</a:t>
                      </a:r>
                    </a:p>
                  </a:txBody>
                  <a:tcPr marL="56719" marR="56719" marT="28360" marB="28360"/>
                </a:tc>
                <a:tc>
                  <a:txBody>
                    <a:bodyPr/>
                    <a:lstStyle/>
                    <a:p>
                      <a:r>
                        <a:rPr lang="en-US" sz="1200" dirty="0"/>
                        <a:t>0%</a:t>
                      </a:r>
                    </a:p>
                  </a:txBody>
                  <a:tcPr marL="56719" marR="56719" marT="28360" marB="28360"/>
                </a:tc>
                <a:tc>
                  <a:txBody>
                    <a:bodyPr/>
                    <a:lstStyle/>
                    <a:p>
                      <a:r>
                        <a:rPr lang="en-US" sz="1200" dirty="0"/>
                        <a:t>2.7%</a:t>
                      </a:r>
                    </a:p>
                  </a:txBody>
                  <a:tcPr marL="56719" marR="56719" marT="28360" marB="28360"/>
                </a:tc>
                <a:extLst>
                  <a:ext uri="{0D108BD9-81ED-4DB2-BD59-A6C34878D82A}">
                    <a16:rowId xmlns:a16="http://schemas.microsoft.com/office/drawing/2014/main" val="2691527672"/>
                  </a:ext>
                </a:extLst>
              </a:tr>
              <a:tr h="235448">
                <a:tc>
                  <a:txBody>
                    <a:bodyPr/>
                    <a:lstStyle/>
                    <a:p>
                      <a:r>
                        <a:rPr lang="en-US" sz="1200" dirty="0"/>
                        <a:t>FacultyQ</a:t>
                      </a:r>
                    </a:p>
                  </a:txBody>
                  <a:tcPr marL="56719" marR="56719" marT="28360" marB="28360"/>
                </a:tc>
                <a:tc>
                  <a:txBody>
                    <a:bodyPr/>
                    <a:lstStyle/>
                    <a:p>
                      <a:r>
                        <a:rPr lang="en-US" sz="1200" dirty="0"/>
                        <a:t>0%</a:t>
                      </a:r>
                    </a:p>
                  </a:txBody>
                  <a:tcPr marL="56719" marR="56719" marT="28360" marB="28360"/>
                </a:tc>
                <a:tc>
                  <a:txBody>
                    <a:bodyPr/>
                    <a:lstStyle/>
                    <a:p>
                      <a:r>
                        <a:rPr lang="en-US" sz="1200" dirty="0"/>
                        <a:t>19.1%</a:t>
                      </a:r>
                    </a:p>
                  </a:txBody>
                  <a:tcPr marL="56719" marR="56719" marT="28360" marB="28360"/>
                </a:tc>
                <a:extLst>
                  <a:ext uri="{0D108BD9-81ED-4DB2-BD59-A6C34878D82A}">
                    <a16:rowId xmlns:a16="http://schemas.microsoft.com/office/drawing/2014/main" val="2042767852"/>
                  </a:ext>
                </a:extLst>
              </a:tr>
            </a:tbl>
          </a:graphicData>
        </a:graphic>
      </p:graphicFrame>
      <p:sp>
        <p:nvSpPr>
          <p:cNvPr id="6" name="TextBox 5">
            <a:extLst>
              <a:ext uri="{FF2B5EF4-FFF2-40B4-BE49-F238E27FC236}">
                <a16:creationId xmlns:a16="http://schemas.microsoft.com/office/drawing/2014/main" id="{B934680E-07E5-0640-5C49-62828E3DB311}"/>
              </a:ext>
            </a:extLst>
          </p:cNvPr>
          <p:cNvSpPr txBox="1"/>
          <p:nvPr/>
        </p:nvSpPr>
        <p:spPr>
          <a:xfrm>
            <a:off x="853339" y="2731447"/>
            <a:ext cx="3898631" cy="400110"/>
          </a:xfrm>
          <a:prstGeom prst="rect">
            <a:avLst/>
          </a:prstGeom>
          <a:noFill/>
        </p:spPr>
        <p:txBody>
          <a:bodyPr wrap="none" rtlCol="0">
            <a:spAutoFit/>
          </a:bodyPr>
          <a:lstStyle/>
          <a:p>
            <a:r>
              <a:rPr lang="en-US" sz="2000" dirty="0"/>
              <a:t>Top 5 Predicted (High Probability):</a:t>
            </a:r>
          </a:p>
        </p:txBody>
      </p:sp>
      <p:sp>
        <p:nvSpPr>
          <p:cNvPr id="7" name="TextBox 6">
            <a:extLst>
              <a:ext uri="{FF2B5EF4-FFF2-40B4-BE49-F238E27FC236}">
                <a16:creationId xmlns:a16="http://schemas.microsoft.com/office/drawing/2014/main" id="{735C9470-914B-F4CC-F372-C603ED69A2C4}"/>
              </a:ext>
            </a:extLst>
          </p:cNvPr>
          <p:cNvSpPr txBox="1"/>
          <p:nvPr/>
        </p:nvSpPr>
        <p:spPr>
          <a:xfrm>
            <a:off x="853339" y="4636579"/>
            <a:ext cx="4275081" cy="400110"/>
          </a:xfrm>
          <a:prstGeom prst="rect">
            <a:avLst/>
          </a:prstGeom>
          <a:noFill/>
        </p:spPr>
        <p:txBody>
          <a:bodyPr wrap="none" rtlCol="0">
            <a:spAutoFit/>
          </a:bodyPr>
          <a:lstStyle/>
          <a:p>
            <a:r>
              <a:rPr lang="en-US" sz="2000" dirty="0"/>
              <a:t>Bottom 5 Predicted (Low Probability):</a:t>
            </a:r>
          </a:p>
        </p:txBody>
      </p:sp>
      <p:sp>
        <p:nvSpPr>
          <p:cNvPr id="9" name="Content Placeholder 2">
            <a:extLst>
              <a:ext uri="{FF2B5EF4-FFF2-40B4-BE49-F238E27FC236}">
                <a16:creationId xmlns:a16="http://schemas.microsoft.com/office/drawing/2014/main" id="{A2A06AAC-7EE7-A6DF-C290-4B01CD80B082}"/>
              </a:ext>
            </a:extLst>
          </p:cNvPr>
          <p:cNvSpPr txBox="1">
            <a:spLocks/>
          </p:cNvSpPr>
          <p:nvPr/>
        </p:nvSpPr>
        <p:spPr>
          <a:xfrm>
            <a:off x="6096000" y="1060764"/>
            <a:ext cx="5690120" cy="5708335"/>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Faculty who actually work with this CRNA get higher probability scores </a:t>
            </a:r>
          </a:p>
          <a:p>
            <a:r>
              <a:rPr lang="en-US" dirty="0"/>
              <a:t>Faculty who never work with this CRNA get low scores </a:t>
            </a:r>
          </a:p>
          <a:p>
            <a:r>
              <a:rPr lang="en-US" dirty="0"/>
              <a:t>The model successfully ranks faculty by their likelihood of pairing</a:t>
            </a:r>
          </a:p>
          <a:p>
            <a:r>
              <a:rPr lang="en-US" dirty="0"/>
              <a:t>Faculty preferences for specific colleagues are intrinsic and stable - they don't change based on day of week or other external factors</a:t>
            </a:r>
          </a:p>
        </p:txBody>
      </p:sp>
      <p:sp>
        <p:nvSpPr>
          <p:cNvPr id="10" name="TextBox 9">
            <a:extLst>
              <a:ext uri="{FF2B5EF4-FFF2-40B4-BE49-F238E27FC236}">
                <a16:creationId xmlns:a16="http://schemas.microsoft.com/office/drawing/2014/main" id="{8B7A12C5-F00A-A265-60D7-7E5BBB388F86}"/>
              </a:ext>
            </a:extLst>
          </p:cNvPr>
          <p:cNvSpPr txBox="1"/>
          <p:nvPr/>
        </p:nvSpPr>
        <p:spPr>
          <a:xfrm>
            <a:off x="834721" y="1971457"/>
            <a:ext cx="5261279" cy="707886"/>
          </a:xfrm>
          <a:prstGeom prst="rect">
            <a:avLst/>
          </a:prstGeom>
          <a:noFill/>
        </p:spPr>
        <p:txBody>
          <a:bodyPr wrap="square" rtlCol="0">
            <a:spAutoFit/>
          </a:bodyPr>
          <a:lstStyle/>
          <a:p>
            <a:r>
              <a:rPr lang="en-US" sz="2000" dirty="0"/>
              <a:t>Predicted probability of working with CRNA_CRNA27:</a:t>
            </a:r>
          </a:p>
        </p:txBody>
      </p:sp>
    </p:spTree>
    <p:extLst>
      <p:ext uri="{BB962C8B-B14F-4D97-AF65-F5344CB8AC3E}">
        <p14:creationId xmlns:p14="http://schemas.microsoft.com/office/powerpoint/2010/main" val="890694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D2B3D-935B-5142-CD4D-20A14B24CF95}"/>
              </a:ext>
            </a:extLst>
          </p:cNvPr>
          <p:cNvSpPr>
            <a:spLocks noGrp="1"/>
          </p:cNvSpPr>
          <p:nvPr>
            <p:ph type="title"/>
          </p:nvPr>
        </p:nvSpPr>
        <p:spPr/>
        <p:txBody>
          <a:bodyPr/>
          <a:lstStyle/>
          <a:p>
            <a:r>
              <a:rPr lang="en-US" dirty="0"/>
              <a:t>Conclusions and Recommendations</a:t>
            </a:r>
          </a:p>
        </p:txBody>
      </p:sp>
      <p:sp>
        <p:nvSpPr>
          <p:cNvPr id="3" name="Content Placeholder 2">
            <a:extLst>
              <a:ext uri="{FF2B5EF4-FFF2-40B4-BE49-F238E27FC236}">
                <a16:creationId xmlns:a16="http://schemas.microsoft.com/office/drawing/2014/main" id="{4E1247F4-036A-46C7-186E-A820E69DB39D}"/>
              </a:ext>
            </a:extLst>
          </p:cNvPr>
          <p:cNvSpPr>
            <a:spLocks noGrp="1"/>
          </p:cNvSpPr>
          <p:nvPr>
            <p:ph idx="1"/>
          </p:nvPr>
        </p:nvSpPr>
        <p:spPr>
          <a:xfrm>
            <a:off x="581192" y="2180496"/>
            <a:ext cx="11029615" cy="4385404"/>
          </a:xfrm>
        </p:spPr>
        <p:txBody>
          <a:bodyPr>
            <a:normAutofit fontScale="92500" lnSpcReduction="20000"/>
          </a:bodyPr>
          <a:lstStyle/>
          <a:p>
            <a:r>
              <a:rPr lang="en-US" dirty="0"/>
              <a:t>Key Successes: </a:t>
            </a:r>
          </a:p>
          <a:p>
            <a:pPr lvl="1"/>
            <a:r>
              <a:rPr lang="en-US" dirty="0"/>
              <a:t>91% accuracy predicting staffing type </a:t>
            </a:r>
          </a:p>
          <a:p>
            <a:pPr lvl="1"/>
            <a:r>
              <a:rPr lang="en-US" dirty="0"/>
              <a:t>92% accuracy predicting team size </a:t>
            </a:r>
          </a:p>
          <a:p>
            <a:pPr lvl="1"/>
            <a:r>
              <a:rPr lang="en-US" dirty="0"/>
              <a:t>83% sensitivity for CRNA pairings </a:t>
            </a:r>
          </a:p>
          <a:p>
            <a:r>
              <a:rPr lang="en-US" dirty="0"/>
              <a:t>Limitations: </a:t>
            </a:r>
          </a:p>
          <a:p>
            <a:pPr lvl="1"/>
            <a:r>
              <a:rPr lang="en-US" dirty="0"/>
              <a:t>Rare classes (Mixed, Large) cannot be predicted </a:t>
            </a:r>
          </a:p>
          <a:p>
            <a:pPr lvl="1"/>
            <a:r>
              <a:rPr lang="en-US" dirty="0"/>
              <a:t>Some scheduling factors not captured in data </a:t>
            </a:r>
          </a:p>
          <a:p>
            <a:pPr lvl="1"/>
            <a:r>
              <a:rPr lang="en-US" dirty="0"/>
              <a:t>Models may need retraining as staff changes </a:t>
            </a:r>
          </a:p>
          <a:p>
            <a:r>
              <a:rPr lang="en-US" dirty="0"/>
              <a:t>Key Insight: </a:t>
            </a:r>
          </a:p>
          <a:p>
            <a:pPr lvl="1"/>
            <a:r>
              <a:rPr lang="en-US" dirty="0"/>
              <a:t>Faculty preferences are intrinsic. They don't depend on day of week, time, or other external factors. </a:t>
            </a:r>
          </a:p>
          <a:p>
            <a:r>
              <a:rPr lang="en-US" dirty="0"/>
              <a:t>Recommendations for Schedulers: </a:t>
            </a:r>
          </a:p>
          <a:p>
            <a:pPr lvl="1"/>
            <a:r>
              <a:rPr lang="en-US" dirty="0"/>
              <a:t>1. Use historical preferences as primary guide </a:t>
            </a:r>
          </a:p>
          <a:p>
            <a:pPr lvl="1"/>
            <a:r>
              <a:rPr lang="en-US" dirty="0"/>
              <a:t>2. Note that most faculty strongly prefer either CRNA-only or Resident-only teams; only 1 faculty regularly uses mixed staffing</a:t>
            </a:r>
          </a:p>
          <a:p>
            <a:pPr lvl="1"/>
            <a:r>
              <a:rPr lang="en-US" dirty="0"/>
              <a:t>3. Consider prediction probabilities as suggestions to inform assignments</a:t>
            </a:r>
          </a:p>
        </p:txBody>
      </p:sp>
    </p:spTree>
    <p:extLst>
      <p:ext uri="{BB962C8B-B14F-4D97-AF65-F5344CB8AC3E}">
        <p14:creationId xmlns:p14="http://schemas.microsoft.com/office/powerpoint/2010/main" val="1330785649"/>
      </p:ext>
    </p:extLst>
  </p:cSld>
  <p:clrMapOvr>
    <a:masterClrMapping/>
  </p:clrMapOvr>
</p:sld>
</file>

<file path=ppt/theme/theme1.xml><?xml version="1.0" encoding="utf-8"?>
<a:theme xmlns:a="http://schemas.openxmlformats.org/drawingml/2006/main" name="Dividend">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TM03457464[[fn=Dividend]]</Template>
  <TotalTime>1165</TotalTime>
  <Words>2416</Words>
  <Application>Microsoft Office PowerPoint</Application>
  <PresentationFormat>Widescreen</PresentationFormat>
  <Paragraphs>282</Paragraphs>
  <Slides>11</Slides>
  <Notes>11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Calibri</vt:lpstr>
      <vt:lpstr>Wingdings 2</vt:lpstr>
      <vt:lpstr>Dividend</vt:lpstr>
      <vt:lpstr>Healthcare Faculty Scheduling: Predicting Staffing Preferences</vt:lpstr>
      <vt:lpstr>Scheduling Challenge</vt:lpstr>
      <vt:lpstr>Data</vt:lpstr>
      <vt:lpstr>Exploratory Data Analysis</vt:lpstr>
      <vt:lpstr>Feature Engineering</vt:lpstr>
      <vt:lpstr>Model 1 – Staffing Type Preferences</vt:lpstr>
      <vt:lpstr>Model 2 – Team Size Preferences</vt:lpstr>
      <vt:lpstr>Model 3 – Specific CRNA Preference</vt:lpstr>
      <vt:lpstr>Model 3 – Example Predictions (CRNA27)</vt:lpstr>
      <vt:lpstr>Model 3 – Example Predictions</vt:lpstr>
      <vt:lpstr>Conclusions and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Elizabeth Obst</dc:creator>
  <cp:lastModifiedBy>Elizabeth Obst</cp:lastModifiedBy>
  <cp:revision>6</cp:revision>
  <dcterms:created xsi:type="dcterms:W3CDTF">2025-12-03T23:50:45Z</dcterms:created>
  <dcterms:modified xsi:type="dcterms:W3CDTF">2025-12-13T00:27:15Z</dcterms:modified>
</cp:coreProperties>
</file>